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64" r:id="rId7"/>
    <p:sldId id="260" r:id="rId8"/>
    <p:sldId id="261" r:id="rId9"/>
    <p:sldId id="265" r:id="rId10"/>
    <p:sldId id="266" r:id="rId11"/>
    <p:sldId id="267" r:id="rId12"/>
    <p:sldId id="271" r:id="rId13"/>
    <p:sldId id="268" r:id="rId14"/>
    <p:sldId id="269" r:id="rId15"/>
    <p:sldId id="270" r:id="rId16"/>
    <p:sldId id="273" r:id="rId17"/>
    <p:sldId id="272" r:id="rId18"/>
    <p:sldId id="274" r:id="rId19"/>
    <p:sldId id="278" r:id="rId20"/>
    <p:sldId id="275" r:id="rId21"/>
    <p:sldId id="276" r:id="rId22"/>
    <p:sldId id="282" r:id="rId23"/>
    <p:sldId id="281" r:id="rId24"/>
    <p:sldId id="277" r:id="rId25"/>
    <p:sldId id="279" r:id="rId26"/>
    <p:sldId id="280" r:id="rId27"/>
    <p:sldId id="283" r:id="rId28"/>
    <p:sldId id="284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986" autoAdjust="0"/>
    <p:restoredTop sz="94660"/>
  </p:normalViewPr>
  <p:slideViewPr>
    <p:cSldViewPr snapToGrid="0">
      <p:cViewPr varScale="1">
        <p:scale>
          <a:sx n="92" d="100"/>
          <a:sy n="92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1380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2233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5576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57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89163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3494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8763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508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5350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682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2526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D4F788F-982D-4E1E-A1B8-431E35EEE05A}" type="datetimeFigureOut">
              <a:rPr lang="en-US" smtClean="0"/>
              <a:t>2/24/2025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92E2ED-E844-40A4-B108-FCF276C186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79303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HTML FORMS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0425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Forms </a:t>
            </a:r>
            <a:r>
              <a:rPr lang="en-US" dirty="0"/>
              <a:t>are used to create interactive websites.</a:t>
            </a:r>
          </a:p>
          <a:p>
            <a:r>
              <a:rPr lang="en-US" dirty="0" smtClean="0"/>
              <a:t>Forms </a:t>
            </a:r>
            <a:r>
              <a:rPr lang="en-US" dirty="0"/>
              <a:t>are used to collect data form the users.</a:t>
            </a:r>
          </a:p>
          <a:p>
            <a:r>
              <a:rPr lang="en-US" dirty="0" smtClean="0"/>
              <a:t>Forms </a:t>
            </a:r>
            <a:r>
              <a:rPr lang="en-US" dirty="0"/>
              <a:t>are an easier way for the user to communicate with </a:t>
            </a:r>
            <a:r>
              <a:rPr lang="en-US" dirty="0" smtClean="0"/>
              <a:t>the webmaster </a:t>
            </a:r>
            <a:r>
              <a:rPr lang="en-US" dirty="0"/>
              <a:t>or the owner of the website.</a:t>
            </a:r>
          </a:p>
          <a:p>
            <a:r>
              <a:rPr lang="en-US" dirty="0"/>
              <a:t>• Forms can be used for different purposes:</a:t>
            </a:r>
          </a:p>
          <a:p>
            <a:pPr lvl="1"/>
            <a:r>
              <a:rPr lang="en-US" dirty="0" smtClean="0"/>
              <a:t>Educational </a:t>
            </a:r>
            <a:r>
              <a:rPr lang="en-US" dirty="0"/>
              <a:t>sites.</a:t>
            </a:r>
          </a:p>
          <a:p>
            <a:pPr lvl="1"/>
            <a:r>
              <a:rPr lang="en-US" dirty="0" smtClean="0"/>
              <a:t>Research </a:t>
            </a:r>
            <a:r>
              <a:rPr lang="en-US" dirty="0"/>
              <a:t>sites.</a:t>
            </a:r>
          </a:p>
          <a:p>
            <a:pPr lvl="1"/>
            <a:r>
              <a:rPr lang="en-US" dirty="0" smtClean="0"/>
              <a:t>Online </a:t>
            </a:r>
            <a:r>
              <a:rPr lang="en-US" dirty="0"/>
              <a:t>orders/Online banking.</a:t>
            </a:r>
          </a:p>
          <a:p>
            <a:pPr lvl="1"/>
            <a:r>
              <a:rPr lang="en-US" dirty="0" smtClean="0"/>
              <a:t>Feedback.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677099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 </a:t>
            </a:r>
            <a:r>
              <a:rPr lang="en-US" dirty="0"/>
              <a:t>form consists of different types of elements. Each type </a:t>
            </a:r>
            <a:r>
              <a:rPr lang="en-US" dirty="0" smtClean="0"/>
              <a:t>of element </a:t>
            </a:r>
            <a:r>
              <a:rPr lang="en-US" dirty="0"/>
              <a:t>is used for different purpose. </a:t>
            </a:r>
            <a:endParaRPr lang="en-US" dirty="0" smtClean="0"/>
          </a:p>
          <a:p>
            <a:r>
              <a:rPr lang="en-US" dirty="0" smtClean="0"/>
              <a:t>Some </a:t>
            </a:r>
            <a:r>
              <a:rPr lang="en-US" dirty="0"/>
              <a:t>important </a:t>
            </a:r>
            <a:r>
              <a:rPr lang="en-US" dirty="0" smtClean="0"/>
              <a:t>form elements </a:t>
            </a:r>
            <a:r>
              <a:rPr lang="en-US" dirty="0"/>
              <a:t>are as follows:</a:t>
            </a:r>
          </a:p>
          <a:p>
            <a:pPr lvl="1"/>
            <a:r>
              <a:rPr lang="en-US" dirty="0" smtClean="0"/>
              <a:t>Textbox</a:t>
            </a:r>
            <a:r>
              <a:rPr lang="en-US" dirty="0"/>
              <a:t>.</a:t>
            </a:r>
          </a:p>
          <a:p>
            <a:pPr lvl="1"/>
            <a:r>
              <a:rPr lang="en-US" dirty="0" err="1" smtClean="0"/>
              <a:t>Listbox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Radio </a:t>
            </a:r>
            <a:r>
              <a:rPr lang="en-US" dirty="0"/>
              <a:t>Button.</a:t>
            </a:r>
          </a:p>
          <a:p>
            <a:pPr lvl="1"/>
            <a:r>
              <a:rPr lang="en-US" dirty="0" smtClean="0"/>
              <a:t>Checkbox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Text </a:t>
            </a:r>
            <a:r>
              <a:rPr lang="en-US" dirty="0"/>
              <a:t>Area.</a:t>
            </a:r>
          </a:p>
          <a:p>
            <a:pPr lvl="1"/>
            <a:r>
              <a:rPr lang="en-US" dirty="0" smtClean="0"/>
              <a:t>Password </a:t>
            </a:r>
            <a:r>
              <a:rPr lang="en-US" dirty="0"/>
              <a:t>Field.</a:t>
            </a:r>
          </a:p>
        </p:txBody>
      </p:sp>
    </p:spTree>
    <p:extLst>
      <p:ext uri="{BB962C8B-B14F-4D97-AF65-F5344CB8AC3E}">
        <p14:creationId xmlns:p14="http://schemas.microsoft.com/office/powerpoint/2010/main" val="18916949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&lt;FORM&gt; Tag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&lt;</a:t>
            </a:r>
            <a:r>
              <a:rPr lang="en-US" dirty="0"/>
              <a:t>FORM&gt; tag is used to create a form in a web page.</a:t>
            </a:r>
          </a:p>
          <a:p>
            <a:r>
              <a:rPr lang="en-US" dirty="0" smtClean="0"/>
              <a:t>All </a:t>
            </a:r>
            <a:r>
              <a:rPr lang="en-US" dirty="0"/>
              <a:t>form elements are inserted within &lt;FORM&gt; and &lt;/FORM</a:t>
            </a:r>
            <a:r>
              <a:rPr lang="en-US" dirty="0" smtClean="0"/>
              <a:t>&gt; tags</a:t>
            </a:r>
            <a:r>
              <a:rPr lang="en-US" dirty="0"/>
              <a:t>.</a:t>
            </a:r>
          </a:p>
          <a:p>
            <a:r>
              <a:rPr lang="en-US" dirty="0" smtClean="0"/>
              <a:t>A </a:t>
            </a:r>
            <a:r>
              <a:rPr lang="en-US" dirty="0"/>
              <a:t>web page may contain many forms.</a:t>
            </a:r>
          </a:p>
          <a:p>
            <a:endParaRPr lang="en-US" dirty="0" smtClean="0"/>
          </a:p>
          <a:p>
            <a:r>
              <a:rPr lang="en-US" dirty="0" smtClean="0"/>
              <a:t>Example</a:t>
            </a:r>
            <a:r>
              <a:rPr lang="en-US" dirty="0"/>
              <a:t>:</a:t>
            </a:r>
          </a:p>
          <a:p>
            <a:r>
              <a:rPr lang="en-US" dirty="0"/>
              <a:t>&lt;FORM NAME=“</a:t>
            </a:r>
            <a:r>
              <a:rPr lang="en-US" dirty="0" err="1"/>
              <a:t>datafrm</a:t>
            </a:r>
            <a:r>
              <a:rPr lang="en-US" dirty="0"/>
              <a:t>” METHOD =“Post” ACTION =“data.asp”&gt;</a:t>
            </a:r>
          </a:p>
        </p:txBody>
      </p:sp>
    </p:spTree>
    <p:extLst>
      <p:ext uri="{BB962C8B-B14F-4D97-AF65-F5344CB8AC3E}">
        <p14:creationId xmlns:p14="http://schemas.microsoft.com/office/powerpoint/2010/main" val="2550275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&lt;FORM&gt; Tag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Attributes</a:t>
            </a:r>
            <a:r>
              <a:rPr lang="en-US" dirty="0"/>
              <a:t>:</a:t>
            </a:r>
          </a:p>
          <a:p>
            <a:r>
              <a:rPr lang="en-US" dirty="0" smtClean="0"/>
              <a:t>NAME </a:t>
            </a:r>
            <a:r>
              <a:rPr lang="en-US" dirty="0"/>
              <a:t>: Specifies the name of the form.</a:t>
            </a:r>
          </a:p>
          <a:p>
            <a:r>
              <a:rPr lang="en-US" dirty="0" smtClean="0"/>
              <a:t>METHOD </a:t>
            </a:r>
            <a:r>
              <a:rPr lang="en-US" dirty="0"/>
              <a:t>: Specifies how the form data is sent to the server.</a:t>
            </a:r>
          </a:p>
          <a:p>
            <a:pPr lvl="1"/>
            <a:r>
              <a:rPr lang="en-US" dirty="0" smtClean="0"/>
              <a:t>GET </a:t>
            </a:r>
            <a:r>
              <a:rPr lang="en-US" dirty="0"/>
              <a:t>: sends data as part of URL. It is default value.</a:t>
            </a:r>
          </a:p>
          <a:p>
            <a:pPr lvl="1"/>
            <a:r>
              <a:rPr lang="en-US" dirty="0" smtClean="0"/>
              <a:t>POST </a:t>
            </a:r>
            <a:r>
              <a:rPr lang="en-US" dirty="0"/>
              <a:t>: Sends data as part of HTTP request. It is used </a:t>
            </a:r>
            <a:r>
              <a:rPr lang="en-US" dirty="0" smtClean="0"/>
              <a:t>for large </a:t>
            </a:r>
            <a:r>
              <a:rPr lang="en-US" dirty="0"/>
              <a:t>amount of data.</a:t>
            </a:r>
          </a:p>
          <a:p>
            <a:r>
              <a:rPr lang="en-US" dirty="0" smtClean="0"/>
              <a:t>ACTION </a:t>
            </a:r>
            <a:r>
              <a:rPr lang="en-US" dirty="0"/>
              <a:t>: Specifies the page to be invoked on the server as </a:t>
            </a:r>
            <a:r>
              <a:rPr lang="en-US" dirty="0" smtClean="0"/>
              <a:t>a result </a:t>
            </a:r>
            <a:r>
              <a:rPr lang="en-US" dirty="0"/>
              <a:t>of the form data submission</a:t>
            </a:r>
            <a:r>
              <a:rPr lang="en-US" dirty="0" smtClean="0"/>
              <a:t>. It </a:t>
            </a:r>
            <a:r>
              <a:rPr lang="en-US" dirty="0"/>
              <a:t>is normally a script file (page) on the server</a:t>
            </a:r>
            <a:r>
              <a:rPr lang="en-US" dirty="0" smtClean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24282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Form Elements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Form </a:t>
            </a:r>
            <a:r>
              <a:rPr lang="en-US" dirty="0"/>
              <a:t>elements are inserted using &lt;INPUT&gt; tag. </a:t>
            </a:r>
            <a:endParaRPr lang="en-US" dirty="0" smtClean="0"/>
          </a:p>
          <a:p>
            <a:r>
              <a:rPr lang="en-US" dirty="0" smtClean="0"/>
              <a:t>The TYPE </a:t>
            </a:r>
            <a:r>
              <a:rPr lang="en-US" dirty="0"/>
              <a:t>attribute of &lt;INPUT&gt; tag specifies the type </a:t>
            </a:r>
            <a:r>
              <a:rPr lang="en-US" dirty="0" smtClean="0"/>
              <a:t>of form </a:t>
            </a:r>
            <a:r>
              <a:rPr lang="en-US" dirty="0"/>
              <a:t>element to be inserted in the form.</a:t>
            </a:r>
          </a:p>
          <a:p>
            <a:r>
              <a:rPr lang="en-US" dirty="0" smtClean="0"/>
              <a:t> </a:t>
            </a:r>
            <a:r>
              <a:rPr lang="en-US" dirty="0"/>
              <a:t>General syntax of &lt;INPUT&gt; tag is:</a:t>
            </a:r>
          </a:p>
          <a:p>
            <a:r>
              <a:rPr lang="en-US" dirty="0"/>
              <a:t>&lt;INPUT TYPE =“</a:t>
            </a:r>
            <a:r>
              <a:rPr lang="en-US" dirty="0" err="1"/>
              <a:t>Form_Element_Name</a:t>
            </a:r>
            <a:r>
              <a:rPr lang="en-US" dirty="0"/>
              <a:t>”&gt;</a:t>
            </a:r>
          </a:p>
        </p:txBody>
      </p:sp>
    </p:spTree>
    <p:extLst>
      <p:ext uri="{BB962C8B-B14F-4D97-AF65-F5344CB8AC3E}">
        <p14:creationId xmlns:p14="http://schemas.microsoft.com/office/powerpoint/2010/main" val="4246741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Box/Text Field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Text </a:t>
            </a:r>
            <a:r>
              <a:rPr lang="en-US" dirty="0"/>
              <a:t>boxes/Text fields are used to get input </a:t>
            </a:r>
            <a:r>
              <a:rPr lang="en-US" dirty="0" smtClean="0"/>
              <a:t>from </a:t>
            </a:r>
            <a:r>
              <a:rPr lang="en-US" dirty="0"/>
              <a:t>the </a:t>
            </a:r>
            <a:r>
              <a:rPr lang="en-US" dirty="0" smtClean="0"/>
              <a:t>user in </a:t>
            </a:r>
            <a:r>
              <a:rPr lang="en-US" dirty="0"/>
              <a:t>the form of letters, number etc.</a:t>
            </a:r>
          </a:p>
          <a:p>
            <a:r>
              <a:rPr lang="en-US" dirty="0" smtClean="0"/>
              <a:t>To </a:t>
            </a:r>
            <a:r>
              <a:rPr lang="en-US" dirty="0"/>
              <a:t>insert text box in a form; TYPE attribute value in </a:t>
            </a:r>
            <a:r>
              <a:rPr lang="en-US" dirty="0" smtClean="0"/>
              <a:t>the &lt;</a:t>
            </a:r>
            <a:r>
              <a:rPr lang="en-US" dirty="0"/>
              <a:t>INPUT&gt; tag should be set to “Text”.</a:t>
            </a:r>
          </a:p>
          <a:p>
            <a:r>
              <a:rPr lang="en-US" dirty="0" smtClean="0"/>
              <a:t>Common </a:t>
            </a:r>
            <a:r>
              <a:rPr lang="en-US" dirty="0"/>
              <a:t>attributes of text box, that can be used </a:t>
            </a:r>
            <a:r>
              <a:rPr lang="en-US" dirty="0" smtClean="0"/>
              <a:t>inside &lt;</a:t>
            </a:r>
            <a:r>
              <a:rPr lang="en-US" dirty="0"/>
              <a:t>INPUT&gt; tag are:</a:t>
            </a:r>
          </a:p>
          <a:p>
            <a:r>
              <a:rPr lang="en-US" dirty="0" smtClean="0"/>
              <a:t>NAME </a:t>
            </a:r>
            <a:r>
              <a:rPr lang="en-US" dirty="0"/>
              <a:t>: Specifies the name of the text box.</a:t>
            </a:r>
          </a:p>
          <a:p>
            <a:r>
              <a:rPr lang="en-US" dirty="0" smtClean="0"/>
              <a:t>VALUE </a:t>
            </a:r>
            <a:r>
              <a:rPr lang="en-US" dirty="0"/>
              <a:t>: Specifies the default value to be present </a:t>
            </a:r>
            <a:r>
              <a:rPr lang="en-US" dirty="0" smtClean="0"/>
              <a:t>in the </a:t>
            </a:r>
            <a:r>
              <a:rPr lang="en-US" dirty="0"/>
              <a:t>text boxes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MAXLENGTH </a:t>
            </a:r>
            <a:r>
              <a:rPr lang="en-US" dirty="0"/>
              <a:t>: Specifies the maximum number </a:t>
            </a:r>
            <a:r>
              <a:rPr lang="en-US" dirty="0" smtClean="0"/>
              <a:t>of characters </a:t>
            </a:r>
            <a:r>
              <a:rPr lang="en-US" dirty="0"/>
              <a:t>that can be entered in the text box.</a:t>
            </a:r>
          </a:p>
        </p:txBody>
      </p:sp>
    </p:spTree>
    <p:extLst>
      <p:ext uri="{BB962C8B-B14F-4D97-AF65-F5344CB8AC3E}">
        <p14:creationId xmlns:p14="http://schemas.microsoft.com/office/powerpoint/2010/main" val="2396273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Password Field</a:t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Password </a:t>
            </a:r>
            <a:r>
              <a:rPr lang="en-US" dirty="0"/>
              <a:t>field is used to input password in the form.</a:t>
            </a:r>
          </a:p>
          <a:p>
            <a:r>
              <a:rPr lang="en-US" dirty="0" smtClean="0"/>
              <a:t>Each </a:t>
            </a:r>
            <a:r>
              <a:rPr lang="en-US" dirty="0"/>
              <a:t>character inserted in this field appears in a </a:t>
            </a:r>
            <a:r>
              <a:rPr lang="en-US" dirty="0" smtClean="0"/>
              <a:t>symbol .</a:t>
            </a:r>
            <a:r>
              <a:rPr lang="en-US" dirty="0"/>
              <a:t>i.e. * etc.</a:t>
            </a:r>
          </a:p>
          <a:p>
            <a:r>
              <a:rPr lang="en-US" dirty="0" smtClean="0"/>
              <a:t>To </a:t>
            </a:r>
            <a:r>
              <a:rPr lang="en-US" dirty="0"/>
              <a:t>insert password field in a form; TYPE attribute </a:t>
            </a:r>
            <a:r>
              <a:rPr lang="en-US" dirty="0" smtClean="0"/>
              <a:t>value in </a:t>
            </a:r>
            <a:r>
              <a:rPr lang="en-US" dirty="0"/>
              <a:t>the &lt;INPUT&gt; tag should be set to “Password”.</a:t>
            </a:r>
          </a:p>
          <a:p>
            <a:r>
              <a:rPr lang="en-US" dirty="0" smtClean="0"/>
              <a:t>The </a:t>
            </a:r>
            <a:r>
              <a:rPr lang="en-US" dirty="0"/>
              <a:t>attributes of password field are the same as of </a:t>
            </a:r>
            <a:r>
              <a:rPr lang="en-US" dirty="0" smtClean="0"/>
              <a:t>text field</a:t>
            </a:r>
            <a:r>
              <a:rPr lang="en-US" dirty="0"/>
              <a:t>.</a:t>
            </a:r>
          </a:p>
          <a:p>
            <a:r>
              <a:rPr lang="en-US" dirty="0" smtClean="0"/>
              <a:t>Example </a:t>
            </a:r>
            <a:r>
              <a:rPr lang="en-US" dirty="0"/>
              <a:t>:</a:t>
            </a:r>
          </a:p>
          <a:p>
            <a:r>
              <a:rPr lang="en-US" dirty="0"/>
              <a:t>&lt;INPUT TYPE =“Password” NAME =“pass”&gt;</a:t>
            </a:r>
          </a:p>
        </p:txBody>
      </p:sp>
    </p:spTree>
    <p:extLst>
      <p:ext uri="{BB962C8B-B14F-4D97-AF65-F5344CB8AC3E}">
        <p14:creationId xmlns:p14="http://schemas.microsoft.com/office/powerpoint/2010/main" val="1994917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905022"/>
            <a:ext cx="5181600" cy="4192544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400800" y="114300"/>
            <a:ext cx="4953000" cy="315277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29487" y="3267075"/>
            <a:ext cx="3095625" cy="228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22696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with default values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416040" cy="3671145"/>
          </a:xfrm>
          <a:prstGeom prst="rect">
            <a:avLst/>
          </a:prstGeo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7545704" y="1690688"/>
            <a:ext cx="4233869" cy="3552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77143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Radio Button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Radio </a:t>
            </a:r>
            <a:r>
              <a:rPr lang="en-US" dirty="0"/>
              <a:t>buttons are used when the user has to choose one </a:t>
            </a:r>
            <a:r>
              <a:rPr lang="en-US" dirty="0" smtClean="0"/>
              <a:t>option from </a:t>
            </a:r>
            <a:r>
              <a:rPr lang="en-US" dirty="0"/>
              <a:t>multiple choices.</a:t>
            </a:r>
          </a:p>
          <a:p>
            <a:r>
              <a:rPr lang="en-US" dirty="0" smtClean="0"/>
              <a:t>To </a:t>
            </a:r>
            <a:r>
              <a:rPr lang="en-US" dirty="0"/>
              <a:t>insert radio button in a form; TYPE attribute value in </a:t>
            </a:r>
            <a:r>
              <a:rPr lang="en-US" dirty="0" smtClean="0"/>
              <a:t>the &lt;</a:t>
            </a:r>
            <a:r>
              <a:rPr lang="en-US" dirty="0"/>
              <a:t>INPUT&gt; tag should be set to “Radio</a:t>
            </a:r>
            <a:r>
              <a:rPr lang="en-US" dirty="0" smtClean="0"/>
              <a:t>”.</a:t>
            </a:r>
          </a:p>
          <a:p>
            <a:endParaRPr lang="en-US" dirty="0"/>
          </a:p>
          <a:p>
            <a:r>
              <a:rPr lang="en-US" dirty="0"/>
              <a:t>&lt;INPUT TYPE=“radio</a:t>
            </a:r>
            <a:r>
              <a:rPr lang="en-US" dirty="0" smtClean="0"/>
              <a:t>”&gt;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87612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Radio Button</a:t>
            </a:r>
            <a:br>
              <a:rPr lang="en-US" dirty="0"/>
            </a:br>
            <a:r>
              <a:rPr lang="en-US" dirty="0"/>
              <a:t>Attributes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NAME </a:t>
            </a:r>
            <a:r>
              <a:rPr lang="en-US" dirty="0"/>
              <a:t>: Specifies the name of the radio button.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the name is same for all of the radio buttons, they </a:t>
            </a:r>
            <a:r>
              <a:rPr lang="en-US" dirty="0" smtClean="0"/>
              <a:t>makes the </a:t>
            </a:r>
            <a:r>
              <a:rPr lang="en-US" dirty="0"/>
              <a:t>group. The user can select one radio button </a:t>
            </a:r>
            <a:r>
              <a:rPr lang="en-US" dirty="0" smtClean="0"/>
              <a:t>from the group</a:t>
            </a:r>
            <a:r>
              <a:rPr lang="en-US" dirty="0"/>
              <a:t>.</a:t>
            </a:r>
          </a:p>
          <a:p>
            <a:pPr lvl="1"/>
            <a:r>
              <a:rPr lang="en-US" dirty="0" smtClean="0"/>
              <a:t>If </a:t>
            </a:r>
            <a:r>
              <a:rPr lang="en-US" dirty="0"/>
              <a:t>the names are different, the user can select all of </a:t>
            </a:r>
            <a:r>
              <a:rPr lang="en-US" dirty="0" smtClean="0"/>
              <a:t>the radio </a:t>
            </a:r>
            <a:r>
              <a:rPr lang="en-US" dirty="0"/>
              <a:t>button at the same time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 smtClean="0"/>
              <a:t>VALUE </a:t>
            </a:r>
            <a:r>
              <a:rPr lang="en-US" dirty="0"/>
              <a:t>: Refers to the value attached with the radio button.</a:t>
            </a:r>
          </a:p>
          <a:p>
            <a:r>
              <a:rPr lang="en-US" dirty="0" smtClean="0"/>
              <a:t>CHECKED </a:t>
            </a:r>
            <a:r>
              <a:rPr lang="en-US" dirty="0"/>
              <a:t>: Specifies that the radio button is selected </a:t>
            </a:r>
            <a:r>
              <a:rPr lang="en-US" dirty="0" smtClean="0"/>
              <a:t>by default</a:t>
            </a:r>
            <a:r>
              <a:rPr lang="en-US" dirty="0"/>
              <a:t>.</a:t>
            </a:r>
          </a:p>
          <a:p>
            <a:r>
              <a:rPr lang="en-US" dirty="0" smtClean="0"/>
              <a:t>Examples</a:t>
            </a:r>
            <a:r>
              <a:rPr lang="en-US" dirty="0"/>
              <a:t>:</a:t>
            </a:r>
          </a:p>
          <a:p>
            <a:r>
              <a:rPr lang="en-US" dirty="0"/>
              <a:t>&lt;INPUT TYPE=“radio” NAME</a:t>
            </a:r>
            <a:r>
              <a:rPr lang="en-US" dirty="0" smtClean="0"/>
              <a:t>=“religion” </a:t>
            </a:r>
            <a:r>
              <a:rPr lang="en-US" dirty="0"/>
              <a:t>VALUE</a:t>
            </a:r>
            <a:r>
              <a:rPr lang="en-US" dirty="0" smtClean="0"/>
              <a:t>=“Islam”&gt;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6441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811" y="2801476"/>
            <a:ext cx="8305800" cy="3857625"/>
          </a:xfrm>
          <a:prstGeom prst="rect">
            <a:avLst/>
          </a:prstGeo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4294967295"/>
          </p:nvPr>
        </p:nvPicPr>
        <p:blipFill>
          <a:blip r:embed="rId3"/>
          <a:stretch>
            <a:fillRect/>
          </a:stretch>
        </p:blipFill>
        <p:spPr>
          <a:xfrm>
            <a:off x="8304213" y="581170"/>
            <a:ext cx="3887787" cy="310197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98022" y="299258"/>
            <a:ext cx="62012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dirty="0" smtClean="0"/>
              <a:t>Grouped </a:t>
            </a:r>
            <a:r>
              <a:rPr lang="en-US" sz="4800" dirty="0"/>
              <a:t>Radio Button</a:t>
            </a:r>
          </a:p>
        </p:txBody>
      </p:sp>
    </p:spTree>
    <p:extLst>
      <p:ext uri="{BB962C8B-B14F-4D97-AF65-F5344CB8AC3E}">
        <p14:creationId xmlns:p14="http://schemas.microsoft.com/office/powerpoint/2010/main" val="410533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35" y="2468620"/>
            <a:ext cx="9024664" cy="438938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1455" y="175682"/>
            <a:ext cx="4906174" cy="251764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31025" y="581891"/>
            <a:ext cx="560277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 smtClean="0"/>
              <a:t>Ungrouped Radio Button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42354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Checkboxes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Like </a:t>
            </a:r>
            <a:r>
              <a:rPr lang="en-US" dirty="0"/>
              <a:t>radio buttons, checkboxes can also be used to </a:t>
            </a:r>
            <a:r>
              <a:rPr lang="en-US" dirty="0" smtClean="0"/>
              <a:t>select options</a:t>
            </a:r>
            <a:r>
              <a:rPr lang="en-US" dirty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user can choose one or multiple options from </a:t>
            </a:r>
            <a:r>
              <a:rPr lang="en-US" dirty="0" smtClean="0"/>
              <a:t>the available </a:t>
            </a:r>
            <a:r>
              <a:rPr lang="en-US" dirty="0"/>
              <a:t>choices.</a:t>
            </a:r>
          </a:p>
          <a:p>
            <a:r>
              <a:rPr lang="en-US" dirty="0" smtClean="0"/>
              <a:t>Checkboxes </a:t>
            </a:r>
            <a:r>
              <a:rPr lang="en-US" dirty="0"/>
              <a:t>cannot be grouped, even if the name is </a:t>
            </a:r>
            <a:r>
              <a:rPr lang="en-US" dirty="0" smtClean="0"/>
              <a:t>the same</a:t>
            </a:r>
            <a:r>
              <a:rPr lang="en-US" dirty="0"/>
              <a:t>.</a:t>
            </a:r>
          </a:p>
          <a:p>
            <a:r>
              <a:rPr lang="en-US" dirty="0" smtClean="0"/>
              <a:t>To </a:t>
            </a:r>
            <a:r>
              <a:rPr lang="en-US" dirty="0"/>
              <a:t>insert checkbox in a form; TYPE attribute value </a:t>
            </a:r>
            <a:r>
              <a:rPr lang="en-US" dirty="0" smtClean="0"/>
              <a:t>in the </a:t>
            </a:r>
            <a:r>
              <a:rPr lang="en-US" dirty="0"/>
              <a:t>&lt;INPUT&gt; tag should be set to “Checkbox”.</a:t>
            </a:r>
          </a:p>
          <a:p>
            <a:r>
              <a:rPr lang="en-US" dirty="0" smtClean="0"/>
              <a:t> The </a:t>
            </a:r>
            <a:r>
              <a:rPr lang="en-US" dirty="0"/>
              <a:t>attributes of checkboxes are the same as </a:t>
            </a:r>
            <a:r>
              <a:rPr lang="en-US" dirty="0" smtClean="0"/>
              <a:t>radio buttons</a:t>
            </a:r>
            <a:r>
              <a:rPr lang="en-US" dirty="0"/>
              <a:t>.</a:t>
            </a:r>
          </a:p>
          <a:p>
            <a:r>
              <a:rPr lang="en-US" dirty="0" smtClean="0"/>
              <a:t>Examples</a:t>
            </a:r>
            <a:r>
              <a:rPr lang="en-US" dirty="0"/>
              <a:t>:</a:t>
            </a:r>
          </a:p>
          <a:p>
            <a:r>
              <a:rPr lang="en-US" dirty="0"/>
              <a:t>&lt;INPUT TYPE=“Checkbox” NAME=“gender” VALUE=“MALE”&gt;</a:t>
            </a:r>
          </a:p>
        </p:txBody>
      </p:sp>
    </p:spTree>
    <p:extLst>
      <p:ext uri="{BB962C8B-B14F-4D97-AF65-F5344CB8AC3E}">
        <p14:creationId xmlns:p14="http://schemas.microsoft.com/office/powerpoint/2010/main" val="1315516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Checkbox</a:t>
            </a:r>
            <a:br>
              <a:rPr lang="en-US" dirty="0" smtClean="0"/>
            </a:b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0285" y="1690688"/>
            <a:ext cx="7267575" cy="315277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2157" y="3773978"/>
            <a:ext cx="4233185" cy="236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2586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Combolist</a:t>
            </a:r>
            <a:r>
              <a:rPr lang="en-US" dirty="0" smtClean="0"/>
              <a:t> or </a:t>
            </a:r>
            <a:r>
              <a:rPr lang="en-US" dirty="0"/>
              <a:t>Select </a:t>
            </a:r>
            <a:r>
              <a:rPr lang="en-US" dirty="0" smtClean="0"/>
              <a:t>Field</a:t>
            </a:r>
            <a:r>
              <a:rPr lang="en-US" dirty="0"/>
              <a:t/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r>
              <a:rPr lang="en-US" dirty="0" err="1"/>
              <a:t>Combolist</a:t>
            </a:r>
            <a:r>
              <a:rPr lang="en-US" dirty="0"/>
              <a:t> is used to provide predefined list of items to the user.</a:t>
            </a:r>
          </a:p>
          <a:p>
            <a:r>
              <a:rPr lang="en-US" dirty="0" smtClean="0"/>
              <a:t> </a:t>
            </a:r>
            <a:r>
              <a:rPr lang="en-US" dirty="0"/>
              <a:t>The user can choose one or multiple options </a:t>
            </a:r>
            <a:r>
              <a:rPr lang="en-US" dirty="0" smtClean="0"/>
              <a:t>from </a:t>
            </a:r>
            <a:r>
              <a:rPr lang="en-US" dirty="0"/>
              <a:t>the </a:t>
            </a:r>
            <a:r>
              <a:rPr lang="en-US" dirty="0" smtClean="0"/>
              <a:t>list depending </a:t>
            </a:r>
            <a:r>
              <a:rPr lang="en-US" dirty="0"/>
              <a:t>upon the type of list.</a:t>
            </a:r>
          </a:p>
          <a:p>
            <a:r>
              <a:rPr lang="en-US" dirty="0" smtClean="0"/>
              <a:t> </a:t>
            </a:r>
            <a:r>
              <a:rPr lang="en-US" dirty="0"/>
              <a:t>&lt;SELECT&gt; tag is used to create a list. </a:t>
            </a:r>
            <a:endParaRPr lang="en-US" dirty="0" smtClean="0"/>
          </a:p>
          <a:p>
            <a:r>
              <a:rPr lang="en-US" dirty="0" smtClean="0"/>
              <a:t>&lt;</a:t>
            </a:r>
            <a:r>
              <a:rPr lang="en-US" dirty="0"/>
              <a:t>OPTION&gt; tag is used </a:t>
            </a:r>
            <a:r>
              <a:rPr lang="en-US" dirty="0" smtClean="0"/>
              <a:t>to create </a:t>
            </a:r>
            <a:r>
              <a:rPr lang="en-US" dirty="0"/>
              <a:t>an item in the list.</a:t>
            </a:r>
          </a:p>
          <a:p>
            <a:r>
              <a:rPr lang="en-US" dirty="0" smtClean="0"/>
              <a:t>All </a:t>
            </a:r>
            <a:r>
              <a:rPr lang="en-US" dirty="0"/>
              <a:t>of the &lt;OPTION&gt; tags must be enclosed in &lt;SELECT</a:t>
            </a:r>
            <a:r>
              <a:rPr lang="en-US" dirty="0" smtClean="0"/>
              <a:t>&gt;--- &lt;/</a:t>
            </a:r>
            <a:r>
              <a:rPr lang="en-US" dirty="0"/>
              <a:t>SELECT</a:t>
            </a:r>
            <a:r>
              <a:rPr lang="en-US" dirty="0" smtClean="0"/>
              <a:t>&gt;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55117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Combolist</a:t>
            </a:r>
            <a:r>
              <a:rPr lang="en-US" dirty="0" smtClean="0"/>
              <a:t> or </a:t>
            </a:r>
            <a:r>
              <a:rPr lang="en-US" dirty="0"/>
              <a:t>Select </a:t>
            </a:r>
            <a:r>
              <a:rPr lang="en-US" dirty="0" smtClean="0"/>
              <a:t>Field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NAME </a:t>
            </a:r>
            <a:r>
              <a:rPr lang="en-US" dirty="0"/>
              <a:t>: Specifies the name of the </a:t>
            </a:r>
            <a:r>
              <a:rPr lang="en-US" dirty="0" err="1"/>
              <a:t>combolist</a:t>
            </a:r>
            <a:r>
              <a:rPr lang="en-US" dirty="0"/>
              <a:t>.</a:t>
            </a:r>
          </a:p>
          <a:p>
            <a:r>
              <a:rPr lang="en-US" dirty="0" smtClean="0"/>
              <a:t>MULTIPLE </a:t>
            </a:r>
            <a:r>
              <a:rPr lang="en-US" dirty="0"/>
              <a:t>: Specifies that multiple items can be </a:t>
            </a:r>
            <a:r>
              <a:rPr lang="en-US" dirty="0" smtClean="0"/>
              <a:t>selected from </a:t>
            </a:r>
            <a:r>
              <a:rPr lang="en-US" dirty="0"/>
              <a:t>a list at the same time by clicking CTRL key.</a:t>
            </a:r>
          </a:p>
          <a:p>
            <a:r>
              <a:rPr lang="en-US" dirty="0" smtClean="0"/>
              <a:t>SIZE </a:t>
            </a:r>
            <a:r>
              <a:rPr lang="en-US" dirty="0"/>
              <a:t>: Specifies that how many items to be displayed at </a:t>
            </a:r>
            <a:r>
              <a:rPr lang="en-US" dirty="0" smtClean="0"/>
              <a:t>a time</a:t>
            </a:r>
            <a:r>
              <a:rPr lang="en-US" dirty="0"/>
              <a:t>. </a:t>
            </a:r>
            <a:endParaRPr lang="en-US" dirty="0" smtClean="0"/>
          </a:p>
          <a:p>
            <a:pPr lvl="1"/>
            <a:r>
              <a:rPr lang="en-US" dirty="0" smtClean="0"/>
              <a:t>Default </a:t>
            </a:r>
            <a:r>
              <a:rPr lang="en-US" dirty="0"/>
              <a:t>is one.</a:t>
            </a:r>
          </a:p>
          <a:p>
            <a:r>
              <a:rPr lang="en-US" dirty="0" smtClean="0"/>
              <a:t>Attributes </a:t>
            </a:r>
            <a:r>
              <a:rPr lang="en-US" dirty="0"/>
              <a:t>used in &lt;OPTION&gt; tag.</a:t>
            </a:r>
          </a:p>
          <a:p>
            <a:r>
              <a:rPr lang="en-US" dirty="0" smtClean="0"/>
              <a:t>VALUE </a:t>
            </a:r>
            <a:r>
              <a:rPr lang="en-US" dirty="0"/>
              <a:t>: Specifies the value of a list item.</a:t>
            </a:r>
          </a:p>
          <a:p>
            <a:r>
              <a:rPr lang="en-US" dirty="0" smtClean="0"/>
              <a:t>SELECTED </a:t>
            </a:r>
            <a:r>
              <a:rPr lang="en-US" dirty="0"/>
              <a:t>: Specifies that the current item in the list </a:t>
            </a:r>
            <a:r>
              <a:rPr lang="en-US" dirty="0" smtClean="0"/>
              <a:t>is selected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43825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690688"/>
            <a:ext cx="6181725" cy="247650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3012" y="4711764"/>
            <a:ext cx="7462760" cy="156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88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Area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Text </a:t>
            </a:r>
            <a:r>
              <a:rPr lang="en-US" dirty="0"/>
              <a:t>area is similar to text box but it may consists of </a:t>
            </a:r>
            <a:r>
              <a:rPr lang="en-US" dirty="0" smtClean="0"/>
              <a:t>multiple rows</a:t>
            </a:r>
            <a:r>
              <a:rPr lang="en-US" dirty="0"/>
              <a:t>.</a:t>
            </a:r>
          </a:p>
          <a:p>
            <a:r>
              <a:rPr lang="en-US" dirty="0" smtClean="0"/>
              <a:t>It </a:t>
            </a:r>
            <a:r>
              <a:rPr lang="en-US" dirty="0"/>
              <a:t>is used to get lengthy input from the user like comments </a:t>
            </a:r>
            <a:r>
              <a:rPr lang="en-US" dirty="0" smtClean="0"/>
              <a:t>and suggestions </a:t>
            </a:r>
            <a:r>
              <a:rPr lang="en-US" dirty="0"/>
              <a:t>etc.</a:t>
            </a:r>
          </a:p>
          <a:p>
            <a:r>
              <a:rPr lang="en-US" dirty="0" smtClean="0"/>
              <a:t>Tags used </a:t>
            </a:r>
            <a:r>
              <a:rPr lang="en-US" dirty="0"/>
              <a:t>to create </a:t>
            </a:r>
            <a:r>
              <a:rPr lang="en-US" dirty="0" smtClean="0"/>
              <a:t>text area </a:t>
            </a:r>
            <a:r>
              <a:rPr lang="en-US" dirty="0"/>
              <a:t>in a form</a:t>
            </a:r>
            <a:r>
              <a:rPr lang="en-US" dirty="0" smtClean="0"/>
              <a:t>.</a:t>
            </a:r>
          </a:p>
          <a:p>
            <a:r>
              <a:rPr lang="en-US" dirty="0"/>
              <a:t>&lt;TEXTAREA</a:t>
            </a:r>
            <a:r>
              <a:rPr lang="en-US" dirty="0" smtClean="0"/>
              <a:t>&gt;---&lt;/</a:t>
            </a:r>
            <a:r>
              <a:rPr lang="en-US" dirty="0"/>
              <a:t>TEXTAREA&gt;</a:t>
            </a:r>
          </a:p>
        </p:txBody>
      </p:sp>
    </p:spTree>
    <p:extLst>
      <p:ext uri="{BB962C8B-B14F-4D97-AF65-F5344CB8AC3E}">
        <p14:creationId xmlns:p14="http://schemas.microsoft.com/office/powerpoint/2010/main" val="35407598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Text Area</a:t>
            </a:r>
            <a:br>
              <a:rPr lang="en-US" dirty="0"/>
            </a:br>
            <a:r>
              <a:rPr lang="en-US" dirty="0"/>
              <a:t>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NAME </a:t>
            </a:r>
            <a:r>
              <a:rPr lang="en-US" dirty="0"/>
              <a:t>: Specifies name of the text area.</a:t>
            </a:r>
          </a:p>
          <a:p>
            <a:r>
              <a:rPr lang="en-US" dirty="0" smtClean="0"/>
              <a:t>VALUE </a:t>
            </a:r>
            <a:r>
              <a:rPr lang="en-US" dirty="0"/>
              <a:t>: Specifies the contents of the text area.</a:t>
            </a:r>
          </a:p>
          <a:p>
            <a:r>
              <a:rPr lang="en-US" dirty="0" smtClean="0"/>
              <a:t>ROWS </a:t>
            </a:r>
            <a:r>
              <a:rPr lang="en-US" dirty="0"/>
              <a:t>: Specifies number of rows in the text area.</a:t>
            </a:r>
          </a:p>
          <a:p>
            <a:r>
              <a:rPr lang="en-US" dirty="0" smtClean="0"/>
              <a:t>COLS </a:t>
            </a:r>
            <a:r>
              <a:rPr lang="en-US" dirty="0"/>
              <a:t>: Specifies number of columns in the text area.</a:t>
            </a:r>
          </a:p>
          <a:p>
            <a:r>
              <a:rPr lang="en-US" dirty="0"/>
              <a:t>• </a:t>
            </a:r>
            <a:r>
              <a:rPr lang="en-US" dirty="0" smtClean="0"/>
              <a:t>Example:</a:t>
            </a:r>
            <a:endParaRPr lang="en-US" dirty="0"/>
          </a:p>
          <a:p>
            <a:r>
              <a:rPr lang="en-US" dirty="0"/>
              <a:t>&lt;TEXTAREA NAME =“text” COLS=“20” ROWS=“30”&gt;</a:t>
            </a:r>
          </a:p>
          <a:p>
            <a:r>
              <a:rPr lang="en-US" dirty="0" smtClean="0"/>
              <a:t>Default text</a:t>
            </a:r>
            <a:endParaRPr lang="en-US" dirty="0"/>
          </a:p>
          <a:p>
            <a:r>
              <a:rPr lang="en-US" dirty="0"/>
              <a:t>&lt;/TEXTAREA&gt;</a:t>
            </a:r>
          </a:p>
        </p:txBody>
      </p:sp>
    </p:spTree>
    <p:extLst>
      <p:ext uri="{BB962C8B-B14F-4D97-AF65-F5344CB8AC3E}">
        <p14:creationId xmlns:p14="http://schemas.microsoft.com/office/powerpoint/2010/main" val="13698040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Text Area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87622"/>
            <a:ext cx="7096125" cy="153352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6250" y="1690688"/>
            <a:ext cx="3257550" cy="3943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9432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Upload Field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File </a:t>
            </a:r>
            <a:r>
              <a:rPr lang="en-US" dirty="0"/>
              <a:t>upload filed is used to specify the path of a file </a:t>
            </a:r>
            <a:r>
              <a:rPr lang="en-US" dirty="0" smtClean="0"/>
              <a:t>on the </a:t>
            </a:r>
            <a:r>
              <a:rPr lang="en-US" dirty="0"/>
              <a:t>user disk.</a:t>
            </a:r>
          </a:p>
          <a:p>
            <a:r>
              <a:rPr lang="en-US" dirty="0" smtClean="0"/>
              <a:t>The </a:t>
            </a:r>
            <a:r>
              <a:rPr lang="en-US" dirty="0"/>
              <a:t>user can select a file from the disk using this field.</a:t>
            </a:r>
          </a:p>
          <a:p>
            <a:r>
              <a:rPr lang="en-US" dirty="0" smtClean="0"/>
              <a:t>To </a:t>
            </a:r>
            <a:r>
              <a:rPr lang="en-US" dirty="0"/>
              <a:t>insert file upload field in a form; TYPE </a:t>
            </a:r>
            <a:r>
              <a:rPr lang="en-US" dirty="0" smtClean="0"/>
              <a:t>attribute value </a:t>
            </a:r>
            <a:r>
              <a:rPr lang="en-US" dirty="0"/>
              <a:t>in the &lt;INPUT&gt; tag should be set to “File”.</a:t>
            </a:r>
          </a:p>
          <a:p>
            <a:r>
              <a:rPr lang="en-US" dirty="0" smtClean="0"/>
              <a:t> </a:t>
            </a:r>
            <a:r>
              <a:rPr lang="en-US" dirty="0"/>
              <a:t>Attributes are:</a:t>
            </a:r>
          </a:p>
          <a:p>
            <a:pPr lvl="1"/>
            <a:r>
              <a:rPr lang="en-US" dirty="0" smtClean="0"/>
              <a:t>NAME </a:t>
            </a:r>
            <a:r>
              <a:rPr lang="en-US" dirty="0"/>
              <a:t>: Specifies the name of the button.</a:t>
            </a:r>
          </a:p>
          <a:p>
            <a:pPr lvl="1"/>
            <a:r>
              <a:rPr lang="en-US" dirty="0" smtClean="0"/>
              <a:t>VALUE </a:t>
            </a:r>
            <a:r>
              <a:rPr lang="en-US" dirty="0"/>
              <a:t>: Specifies the file name and path of </a:t>
            </a:r>
            <a:r>
              <a:rPr lang="en-US" dirty="0" smtClean="0"/>
              <a:t>the selected </a:t>
            </a:r>
            <a:r>
              <a:rPr lang="en-US" dirty="0"/>
              <a:t>file.</a:t>
            </a:r>
          </a:p>
          <a:p>
            <a:r>
              <a:rPr lang="en-US" dirty="0" smtClean="0"/>
              <a:t>• </a:t>
            </a:r>
            <a:r>
              <a:rPr lang="en-US" dirty="0"/>
              <a:t>Example:</a:t>
            </a:r>
          </a:p>
          <a:p>
            <a:r>
              <a:rPr lang="en-US" dirty="0"/>
              <a:t>&lt;input type="file" id="</a:t>
            </a:r>
            <a:r>
              <a:rPr lang="en-US" dirty="0" err="1"/>
              <a:t>myfile</a:t>
            </a:r>
            <a:r>
              <a:rPr lang="en-US" dirty="0"/>
              <a:t>" name="</a:t>
            </a:r>
            <a:r>
              <a:rPr lang="en-US" dirty="0" err="1"/>
              <a:t>myfile</a:t>
            </a:r>
            <a:r>
              <a:rPr lang="en-US" dirty="0"/>
              <a:t>"&gt;</a:t>
            </a:r>
          </a:p>
        </p:txBody>
      </p:sp>
    </p:spTree>
    <p:extLst>
      <p:ext uri="{BB962C8B-B14F-4D97-AF65-F5344CB8AC3E}">
        <p14:creationId xmlns:p14="http://schemas.microsoft.com/office/powerpoint/2010/main" val="234626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Buttons </a:t>
            </a:r>
            <a:r>
              <a:rPr lang="en-US" dirty="0"/>
              <a:t>are used in forms to process the form data.</a:t>
            </a:r>
          </a:p>
          <a:p>
            <a:r>
              <a:rPr lang="en-US" dirty="0" smtClean="0"/>
              <a:t>Types </a:t>
            </a:r>
            <a:r>
              <a:rPr lang="en-US" dirty="0"/>
              <a:t>of buttons are:</a:t>
            </a:r>
          </a:p>
          <a:p>
            <a:pPr lvl="1"/>
            <a:r>
              <a:rPr lang="en-US" dirty="0" smtClean="0"/>
              <a:t>Submit </a:t>
            </a:r>
            <a:r>
              <a:rPr lang="en-US" dirty="0"/>
              <a:t>Button.</a:t>
            </a:r>
          </a:p>
          <a:p>
            <a:pPr lvl="1"/>
            <a:r>
              <a:rPr lang="en-US" dirty="0" smtClean="0"/>
              <a:t>Reset </a:t>
            </a:r>
            <a:r>
              <a:rPr lang="en-US" dirty="0"/>
              <a:t>Button.</a:t>
            </a:r>
          </a:p>
          <a:p>
            <a:pPr lvl="1"/>
            <a:r>
              <a:rPr lang="en-US" dirty="0" smtClean="0"/>
              <a:t>Normal </a:t>
            </a:r>
            <a:r>
              <a:rPr lang="en-US" dirty="0"/>
              <a:t>Button.</a:t>
            </a:r>
          </a:p>
          <a:p>
            <a:endParaRPr lang="en-US" dirty="0" smtClean="0"/>
          </a:p>
          <a:p>
            <a:r>
              <a:rPr lang="en-US" dirty="0" smtClean="0"/>
              <a:t>&lt;</a:t>
            </a:r>
            <a:r>
              <a:rPr lang="en-US" dirty="0"/>
              <a:t>INPUT TYPE=“button”&gt;</a:t>
            </a:r>
          </a:p>
        </p:txBody>
      </p:sp>
    </p:spTree>
    <p:extLst>
      <p:ext uri="{BB962C8B-B14F-4D97-AF65-F5344CB8AC3E}">
        <p14:creationId xmlns:p14="http://schemas.microsoft.com/office/powerpoint/2010/main" val="14446108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Buttons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Submit </a:t>
            </a:r>
            <a:r>
              <a:rPr lang="en-US" dirty="0"/>
              <a:t>Button.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a predefined button</a:t>
            </a:r>
            <a:r>
              <a:rPr lang="en-US" dirty="0" smtClean="0"/>
              <a:t>. When user </a:t>
            </a:r>
            <a:r>
              <a:rPr lang="en-US" dirty="0"/>
              <a:t>clicks submit button, it sends the data in </a:t>
            </a:r>
            <a:r>
              <a:rPr lang="en-US" dirty="0" smtClean="0"/>
              <a:t>the form </a:t>
            </a:r>
            <a:r>
              <a:rPr lang="en-US" dirty="0"/>
              <a:t>fields to the file specified in ACTION attribute of </a:t>
            </a:r>
            <a:r>
              <a:rPr lang="en-US" dirty="0" smtClean="0"/>
              <a:t>the &lt;</a:t>
            </a:r>
            <a:r>
              <a:rPr lang="en-US" dirty="0"/>
              <a:t>FORM&gt; tag.</a:t>
            </a:r>
          </a:p>
          <a:p>
            <a:pPr lvl="1"/>
            <a:r>
              <a:rPr lang="en-US" dirty="0"/>
              <a:t>&lt;INPUT TYPE=“Submit”&gt;</a:t>
            </a:r>
          </a:p>
          <a:p>
            <a:r>
              <a:rPr lang="en-US" dirty="0" smtClean="0"/>
              <a:t>Reset </a:t>
            </a:r>
            <a:r>
              <a:rPr lang="en-US" dirty="0"/>
              <a:t>Button.</a:t>
            </a:r>
          </a:p>
          <a:p>
            <a:pPr lvl="1"/>
            <a:r>
              <a:rPr lang="en-US" dirty="0" smtClean="0"/>
              <a:t>It </a:t>
            </a:r>
            <a:r>
              <a:rPr lang="en-US" dirty="0"/>
              <a:t>is a predefined button</a:t>
            </a:r>
            <a:r>
              <a:rPr lang="en-US" dirty="0" smtClean="0"/>
              <a:t>. When </a:t>
            </a:r>
            <a:r>
              <a:rPr lang="en-US" dirty="0"/>
              <a:t>the user clicks this button, it clears all the </a:t>
            </a:r>
            <a:r>
              <a:rPr lang="en-US" dirty="0" smtClean="0"/>
              <a:t>data entered </a:t>
            </a:r>
            <a:r>
              <a:rPr lang="en-US" dirty="0"/>
              <a:t>by the user in different from elements.</a:t>
            </a:r>
          </a:p>
          <a:p>
            <a:pPr lvl="1"/>
            <a:r>
              <a:rPr lang="en-US" dirty="0"/>
              <a:t>&lt;INPUT TYPE=“Reset”&gt;</a:t>
            </a:r>
          </a:p>
          <a:p>
            <a:r>
              <a:rPr lang="en-US" dirty="0" smtClean="0"/>
              <a:t>Normal </a:t>
            </a:r>
            <a:r>
              <a:rPr lang="en-US" dirty="0"/>
              <a:t>Button.</a:t>
            </a:r>
          </a:p>
          <a:p>
            <a:pPr lvl="1"/>
            <a:r>
              <a:rPr lang="en-US" dirty="0" smtClean="0"/>
              <a:t>This </a:t>
            </a:r>
            <a:r>
              <a:rPr lang="en-US" dirty="0"/>
              <a:t>type of button is used by the user to </a:t>
            </a:r>
            <a:r>
              <a:rPr lang="en-US" dirty="0" smtClean="0"/>
              <a:t>associate a particular </a:t>
            </a:r>
            <a:r>
              <a:rPr lang="en-US" dirty="0"/>
              <a:t>action with its clicking by using client </a:t>
            </a:r>
            <a:r>
              <a:rPr lang="en-US" dirty="0" smtClean="0"/>
              <a:t>side scripting.</a:t>
            </a:r>
          </a:p>
          <a:p>
            <a:pPr lvl="1"/>
            <a:r>
              <a:rPr lang="en-US" dirty="0"/>
              <a:t>&lt;INPUT TYPE=“button”&gt;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3071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Buttons</a:t>
            </a:r>
            <a:br>
              <a:rPr lang="en-US" dirty="0" smtClean="0"/>
            </a:br>
            <a:r>
              <a:rPr lang="en-US" dirty="0"/>
              <a:t>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NAME </a:t>
            </a:r>
            <a:r>
              <a:rPr lang="en-US" dirty="0"/>
              <a:t>: Specifies the name of the button.</a:t>
            </a:r>
          </a:p>
          <a:p>
            <a:r>
              <a:rPr lang="en-US" dirty="0" smtClean="0"/>
              <a:t>VALUE </a:t>
            </a:r>
            <a:r>
              <a:rPr lang="en-US" dirty="0"/>
              <a:t>: Specifies the caption of the button</a:t>
            </a:r>
            <a:r>
              <a:rPr lang="en-US" dirty="0" smtClean="0"/>
              <a:t>.</a:t>
            </a:r>
          </a:p>
          <a:p>
            <a:endParaRPr lang="en-US" dirty="0"/>
          </a:p>
          <a:p>
            <a:r>
              <a:rPr lang="en-US" dirty="0"/>
              <a:t>&lt;INPUT TYPE=“Submit” NAME=“</a:t>
            </a:r>
            <a:r>
              <a:rPr lang="en-US" dirty="0" err="1"/>
              <a:t>Sumbitbtn</a:t>
            </a:r>
            <a:r>
              <a:rPr lang="en-US" dirty="0"/>
              <a:t>” VALUE</a:t>
            </a:r>
            <a:r>
              <a:rPr lang="en-US" dirty="0" smtClean="0"/>
              <a:t>=“Submit</a:t>
            </a:r>
            <a:r>
              <a:rPr lang="en-US" dirty="0"/>
              <a:t>”&gt;</a:t>
            </a:r>
          </a:p>
        </p:txBody>
      </p:sp>
    </p:spTree>
    <p:extLst>
      <p:ext uri="{BB962C8B-B14F-4D97-AF65-F5344CB8AC3E}">
        <p14:creationId xmlns:p14="http://schemas.microsoft.com/office/powerpoint/2010/main" val="1074465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Example</a:t>
            </a:r>
            <a:endParaRPr lang="en-US" dirty="0"/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0410" y="1895302"/>
            <a:ext cx="7872074" cy="198952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2484" y="781397"/>
            <a:ext cx="3143250" cy="5104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70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Lab 4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Create an HTML form to place </a:t>
            </a:r>
            <a:r>
              <a:rPr lang="en-US" smtClean="0"/>
              <a:t>a shopping </a:t>
            </a:r>
            <a:r>
              <a:rPr lang="en-US" dirty="0" smtClean="0"/>
              <a:t>order. Use maximum elements and their attributes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54023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358</TotalTime>
  <Words>1317</Words>
  <Application>Microsoft Office PowerPoint</Application>
  <PresentationFormat>Widescreen</PresentationFormat>
  <Paragraphs>144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Office Theme</vt:lpstr>
      <vt:lpstr>HTML FORMS</vt:lpstr>
      <vt:lpstr>Forms </vt:lpstr>
      <vt:lpstr>Forms </vt:lpstr>
      <vt:lpstr>&lt;FORM&gt; Tag </vt:lpstr>
      <vt:lpstr>&lt;FORM&gt; Tag </vt:lpstr>
      <vt:lpstr>Form Elements </vt:lpstr>
      <vt:lpstr>Text Box/Text Field </vt:lpstr>
      <vt:lpstr>Password Field </vt:lpstr>
      <vt:lpstr>Example</vt:lpstr>
      <vt:lpstr>Example with default values</vt:lpstr>
      <vt:lpstr>Radio Button </vt:lpstr>
      <vt:lpstr>Radio Button Attributes</vt:lpstr>
      <vt:lpstr>PowerPoint Presentation</vt:lpstr>
      <vt:lpstr>PowerPoint Presentation</vt:lpstr>
      <vt:lpstr>Checkboxes </vt:lpstr>
      <vt:lpstr>Checkbox </vt:lpstr>
      <vt:lpstr>Combolist or Select Field </vt:lpstr>
      <vt:lpstr>Combolist or Select Field Attributes</vt:lpstr>
      <vt:lpstr>Example </vt:lpstr>
      <vt:lpstr>Text Area </vt:lpstr>
      <vt:lpstr>Text Area Attributes</vt:lpstr>
      <vt:lpstr>Text Area</vt:lpstr>
      <vt:lpstr>File Upload Field </vt:lpstr>
      <vt:lpstr>Buttons</vt:lpstr>
      <vt:lpstr>Buttons</vt:lpstr>
      <vt:lpstr>Buttons Attributes</vt:lpstr>
      <vt:lpstr>Example</vt:lpstr>
      <vt:lpstr>Lab 4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HTML</dc:title>
  <dc:creator>User</dc:creator>
  <cp:lastModifiedBy>student</cp:lastModifiedBy>
  <cp:revision>22</cp:revision>
  <dcterms:created xsi:type="dcterms:W3CDTF">2021-04-04T11:11:25Z</dcterms:created>
  <dcterms:modified xsi:type="dcterms:W3CDTF">2025-02-24T18:01:26Z</dcterms:modified>
</cp:coreProperties>
</file>