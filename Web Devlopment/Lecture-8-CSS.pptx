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43" r:id="rId4"/>
    <p:sldId id="344" r:id="rId5"/>
    <p:sldId id="345" r:id="rId6"/>
    <p:sldId id="260" r:id="rId7"/>
    <p:sldId id="270" r:id="rId8"/>
    <p:sldId id="347" r:id="rId9"/>
    <p:sldId id="257" r:id="rId10"/>
    <p:sldId id="348" r:id="rId11"/>
    <p:sldId id="352" r:id="rId12"/>
    <p:sldId id="353" r:id="rId13"/>
    <p:sldId id="354" r:id="rId14"/>
    <p:sldId id="355" r:id="rId15"/>
    <p:sldId id="356" r:id="rId16"/>
    <p:sldId id="357" r:id="rId17"/>
    <p:sldId id="349" r:id="rId18"/>
    <p:sldId id="261" r:id="rId19"/>
    <p:sldId id="346" r:id="rId20"/>
    <p:sldId id="358" r:id="rId21"/>
    <p:sldId id="350" r:id="rId22"/>
    <p:sldId id="359" r:id="rId23"/>
    <p:sldId id="360" r:id="rId24"/>
    <p:sldId id="351" r:id="rId25"/>
    <p:sldId id="361" r:id="rId26"/>
    <p:sldId id="266" r:id="rId27"/>
    <p:sldId id="274" r:id="rId28"/>
    <p:sldId id="273" r:id="rId29"/>
    <p:sldId id="275" r:id="rId30"/>
    <p:sldId id="268" r:id="rId31"/>
    <p:sldId id="269" r:id="rId32"/>
    <p:sldId id="276" r:id="rId33"/>
    <p:sldId id="362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14" y="-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8754F3E-F236-48C2-AE28-123E4859DD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F34F1EE-A97C-440D-A9C6-F4DB303B3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8439473-C78F-4506-B331-933DF0D9D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3D95D53-991C-4C1A-AE23-D0B338A6B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B386895-7861-4B51-AB77-A3271091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37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01AA9D5-5B21-4085-BABE-409A921E9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0AA8E0-DC04-45D7-843D-7C6610B59F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FD0355-3888-45F8-8033-5DFE0BD5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CE11548C-5DE2-4968-8CA5-EC1E58447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08D9F40-672B-46A1-82D6-A5E84A87C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81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5870BA1-8FB5-4F54-A8CD-48AE97BE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A487F8C-EBC5-43DF-B68D-B91B0D22F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C1561E4-16A4-47C5-8D1F-1DB547B61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3B92C14-07E5-4D95-9F3D-44ACE22B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CA73DDB-BDA1-4B8F-830F-7A44DF37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262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FF72A7C-DD2C-487A-9E3A-2024F69C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1DE45BD-0642-441F-A28A-7D25D62F61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A8CF789-4660-4861-8449-8FF957EA1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E0A9366-0163-4378-813E-D73067C40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1F9BEE82-61AF-4E6C-A0F2-F611172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6A21242F-1225-40BB-A798-AC569EFDD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737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F7091F-54B3-4341-BCCD-D1D56A17A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2442967-A66D-4785-A9BC-2BFFBCB20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B01A308-8D36-492E-BF82-2C199FAB72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DC87318-DA9E-4ECE-AB7F-14F9E113A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1A3E5F2-EFD4-4D93-B530-7334E0F1A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536544C7-C5BA-46AB-96D7-F68BC5AE9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B72CD38F-C88B-4DA8-9201-A037DEB5B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905E30B5-C84F-44A8-97FA-D515A6B28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15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9FE5342-FED5-4D0B-AE4B-81D350860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B9443249-4B3F-47DC-8A41-E0D797734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AEABCCB-DC28-4E1B-83A0-BCDC58F3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20650EC-D0EC-45C4-9AE6-464F82201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07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00F2407F-3495-494D-9AC6-64126250D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AF975823-6620-4D27-AF93-BE288C566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F25DB9E-257F-4EF6-89C6-6C6BE380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597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DCF280-985C-4CC4-BC4C-BE45F46F2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DEE6FA3-2A10-4A00-BD05-10213CF6C3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E69DB7B7-E7CE-4170-A5E1-FF4EC30B5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959A503A-592D-40DC-B937-7852D8268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A61B7AD-FD54-4D72-8B92-1ECBDBF0F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058AE7BF-0909-4F16-97E7-079F73337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43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30278-CB51-4A66-A310-91D5DA393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1AC512A-253A-4F93-BEE8-7F4272D9A6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41CDD64F-9E4B-4C46-91A2-BF4B5B9B2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E872587-0A26-44CD-A4F7-4F90B7A1B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5568B37-786D-436C-9F92-72258D99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CA56290-8F21-40AD-95CA-9196D2862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44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228B44-9EA5-4B44-A644-791107410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76E4EF05-FDF0-46BB-ADA1-AC19A3EFB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AE48608-0075-4BEC-8AFA-8656448BC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B454CFF-885E-4F57-99DA-A83267A7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2C6830E-9D2C-476D-AED7-1EB75EDB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018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5ACE845E-0A56-4EAB-A122-2449A28984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FFB17EB-051F-41B9-B9C7-786F2651E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E5747CD-9A10-48C8-A1D5-943CBA9C3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135EE88-D810-4EA7-8E0B-A504503C7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11A7F5E-E486-494B-A350-90DBCF716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62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7C60405D-075A-4344-A4D0-9A9F49290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A79A0D9-0EF2-4FA1-95F8-F115C00A10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C9FAFF4-AA7A-4223-AAA9-4B6D082D9F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780B6A-BC0D-4DE1-923D-44D813DCF879}" type="datetimeFigureOut">
              <a:rPr lang="en-US" smtClean="0"/>
              <a:t>12/5/2023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E82E58-F601-4FA0-901F-7DA9CEB76B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6C003450-A6AD-40A5-8A3D-E9DBFB733E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A940E-C292-4C9F-8381-5EA041136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76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6A430DD-DA38-4141-8B84-B01E416767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Cascading Style Sheets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4BD30666-4E89-4098-AF10-55456BEDB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890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Div</a:t>
            </a:r>
            <a:r>
              <a:rPr lang="en-US" dirty="0"/>
              <a:t> and CSS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&lt;div&gt; element is used as a container for other HTML elements.</a:t>
            </a:r>
          </a:p>
          <a:p>
            <a:endParaRPr lang="en-US" dirty="0"/>
          </a:p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div is a generic container element that does not carry any semantic meaning. It is mostly used for grouping related elements together and applying styling to them via CSS.</a:t>
            </a:r>
          </a:p>
          <a:p>
            <a:r>
              <a:rPr lang="en-US" dirty="0"/>
              <a:t>The &lt;div&gt; element is by default a block element, meaning that it takes all available width, and comes with line breaks before and after.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&lt;div&gt;Here comes the </a:t>
            </a:r>
            <a:r>
              <a:rPr lang="en-US" dirty="0" err="1"/>
              <a:t>Div</a:t>
            </a:r>
            <a:r>
              <a:rPr lang="en-US" dirty="0"/>
              <a:t> &lt;/div&gt;</a:t>
            </a:r>
          </a:p>
        </p:txBody>
      </p:sp>
    </p:spTree>
    <p:extLst>
      <p:ext uri="{BB962C8B-B14F-4D97-AF65-F5344CB8AC3E}">
        <p14:creationId xmlns:p14="http://schemas.microsoft.com/office/powerpoint/2010/main" val="3043939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FCE5BC-836B-44D7-B443-9FCD69533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&lt;div&gt; as a container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7FBDE25-1F79-4296-AA08-8698F928FF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div is a generic container element that does not carry any semantic meaning. It is mostly used for grouping related elements together and applying styling to them via CSS.</a:t>
            </a:r>
          </a:p>
          <a:p>
            <a:endParaRPr lang="en-US" dirty="0"/>
          </a:p>
          <a:p>
            <a:r>
              <a:rPr lang="en-US" dirty="0"/>
              <a:t>The &lt;div&gt; element is often used to group sections of a web page together.</a:t>
            </a:r>
          </a:p>
        </p:txBody>
      </p:sp>
    </p:spTree>
    <p:extLst>
      <p:ext uri="{BB962C8B-B14F-4D97-AF65-F5344CB8AC3E}">
        <p14:creationId xmlns:p14="http://schemas.microsoft.com/office/powerpoint/2010/main" val="1375376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CB25E9AF-C74E-4F8B-9520-5FA01AA95BC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0" y="95885"/>
            <a:ext cx="8334375" cy="43513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6C1DFCA-F957-4F84-896F-C43390027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617" y="3223260"/>
            <a:ext cx="7203257" cy="353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876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C8AB84B4-C229-445D-B86F-FEE2A46CED83}"/>
              </a:ext>
            </a:extLst>
          </p:cNvPr>
          <p:cNvSpPr txBox="1"/>
          <p:nvPr/>
        </p:nvSpPr>
        <p:spPr>
          <a:xfrm>
            <a:off x="609600" y="1949857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r>
              <a:rPr lang="en-US" dirty="0"/>
              <a:t>&lt;style&gt;</a:t>
            </a:r>
          </a:p>
          <a:p>
            <a:r>
              <a:rPr lang="en-US" dirty="0"/>
              <a:t>div {</a:t>
            </a:r>
          </a:p>
          <a:p>
            <a:r>
              <a:rPr lang="en-US" dirty="0"/>
              <a:t>  width:250px;</a:t>
            </a:r>
          </a:p>
          <a:p>
            <a:r>
              <a:rPr lang="en-US" dirty="0"/>
              <a:t>  </a:t>
            </a:r>
            <a:r>
              <a:rPr lang="en-US" dirty="0" err="1"/>
              <a:t>margin:auto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C9B8E3D7-B90E-4775-AEBB-45DDA985A958}"/>
              </a:ext>
            </a:extLst>
          </p:cNvPr>
          <p:cNvSpPr/>
          <p:nvPr/>
        </p:nvSpPr>
        <p:spPr>
          <a:xfrm>
            <a:off x="1981200" y="655320"/>
            <a:ext cx="6080760" cy="112776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Center Aligning </a:t>
            </a:r>
            <a:r>
              <a:rPr lang="en-US" sz="48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Div</a:t>
            </a:r>
            <a:endParaRPr lang="en-US" sz="4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B569D615-9792-46A3-9A45-FF3425D5B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19" y="2162287"/>
            <a:ext cx="8060055" cy="426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388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27908A7-73E2-4FCA-A9E1-6DDFCEC2120C}"/>
              </a:ext>
            </a:extLst>
          </p:cNvPr>
          <p:cNvSpPr txBox="1"/>
          <p:nvPr/>
        </p:nvSpPr>
        <p:spPr>
          <a:xfrm>
            <a:off x="3156858" y="254000"/>
            <a:ext cx="5573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Multiple </a:t>
            </a:r>
            <a:r>
              <a:rPr lang="en-US" sz="2800" b="1" dirty="0" err="1"/>
              <a:t>Div</a:t>
            </a:r>
            <a:r>
              <a:rPr lang="en-US" sz="2800" b="1" dirty="0"/>
              <a:t>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8B6556D-2BDE-42AE-B8FA-BB51A015F22E}"/>
              </a:ext>
            </a:extLst>
          </p:cNvPr>
          <p:cNvSpPr txBox="1"/>
          <p:nvPr/>
        </p:nvSpPr>
        <p:spPr>
          <a:xfrm>
            <a:off x="239486" y="874102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&lt;body&gt;</a:t>
            </a:r>
          </a:p>
          <a:p>
            <a:endParaRPr lang="en-US" dirty="0"/>
          </a:p>
          <a:p>
            <a:r>
              <a:rPr lang="en-US" dirty="0"/>
              <a:t>&lt;h1&gt;Multiple DIV Elements&lt;/h1&gt;</a:t>
            </a:r>
          </a:p>
          <a:p>
            <a:endParaRPr lang="en-US" dirty="0"/>
          </a:p>
          <a:p>
            <a:r>
              <a:rPr lang="en-US" dirty="0"/>
              <a:t>&lt;div style="background-color:#FFF4A3;"&gt;</a:t>
            </a:r>
          </a:p>
          <a:p>
            <a:r>
              <a:rPr lang="en-US" dirty="0"/>
              <a:t> &lt;h2&gt;Peshawar&lt;/h2&gt;</a:t>
            </a:r>
          </a:p>
          <a:p>
            <a:r>
              <a:rPr lang="en-US" dirty="0"/>
              <a:t>  &lt;p&gt;Peshawar is the sixth most populous city of Pakistan, with a population of over 4.7 million in the 2023 census. It is the capital of the province of Khyber Pakhtunkhwa. &lt;/p&gt;</a:t>
            </a:r>
          </a:p>
          <a:p>
            <a:r>
              <a:rPr lang="en-US" dirty="0"/>
              <a:t>&lt;/div&gt;</a:t>
            </a:r>
          </a:p>
          <a:p>
            <a:endParaRPr lang="en-US" dirty="0"/>
          </a:p>
          <a:p>
            <a:r>
              <a:rPr lang="en-US" dirty="0"/>
              <a:t>&lt;div style="background-color:#FFC0C7;"&gt;</a:t>
            </a:r>
          </a:p>
          <a:p>
            <a:r>
              <a:rPr lang="en-US" dirty="0"/>
              <a:t>&lt;h2&gt;Islamabad&lt;/h2&gt;</a:t>
            </a:r>
          </a:p>
          <a:p>
            <a:r>
              <a:rPr lang="en-US" dirty="0"/>
              <a:t>&lt;p&gt; Islamabad is the capital city of the Islamic Republic of Pakistan. It is the country's ninth-most populous city with a population of over 1.2 million people.&lt;/p&gt;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C6F3679-47CC-49DF-B76D-BE6AF1B0E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753" y="1284513"/>
            <a:ext cx="5722637" cy="280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69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90D0000C-488A-4BA2-BB5D-313C7047380B}"/>
              </a:ext>
            </a:extLst>
          </p:cNvPr>
          <p:cNvSpPr txBox="1"/>
          <p:nvPr/>
        </p:nvSpPr>
        <p:spPr>
          <a:xfrm>
            <a:off x="87085" y="139795"/>
            <a:ext cx="9027886" cy="695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&lt;html&gt;</a:t>
            </a:r>
          </a:p>
          <a:p>
            <a:r>
              <a:rPr lang="en-US" sz="1600" dirty="0"/>
              <a:t>&lt;head&gt;</a:t>
            </a:r>
          </a:p>
          <a:p>
            <a:r>
              <a:rPr lang="en-US" sz="1600" dirty="0"/>
              <a:t>&lt;style&gt;</a:t>
            </a:r>
          </a:p>
          <a:p>
            <a:r>
              <a:rPr lang="en-US" sz="1600" dirty="0" err="1"/>
              <a:t>div.mycontainer</a:t>
            </a:r>
            <a:r>
              <a:rPr lang="en-US" sz="1600" dirty="0"/>
              <a:t> {</a:t>
            </a:r>
          </a:p>
          <a:p>
            <a:r>
              <a:rPr lang="en-US" sz="1600" dirty="0"/>
              <a:t>  width:100%;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overflow:auto</a:t>
            </a:r>
            <a:r>
              <a:rPr lang="en-US" sz="1600" dirty="0"/>
              <a:t>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 err="1"/>
              <a:t>div.mycontainer</a:t>
            </a:r>
            <a:r>
              <a:rPr lang="en-US" sz="1600" dirty="0"/>
              <a:t> div {</a:t>
            </a:r>
          </a:p>
          <a:p>
            <a:r>
              <a:rPr lang="en-US" sz="1600" dirty="0"/>
              <a:t>  width:50%;</a:t>
            </a:r>
          </a:p>
          <a:p>
            <a:r>
              <a:rPr lang="en-US" sz="1600" dirty="0"/>
              <a:t>  </a:t>
            </a:r>
            <a:r>
              <a:rPr lang="en-US" sz="1600" dirty="0" err="1"/>
              <a:t>float:left</a:t>
            </a:r>
            <a:r>
              <a:rPr lang="en-US" sz="1600" dirty="0"/>
              <a:t>;</a:t>
            </a:r>
          </a:p>
          <a:p>
            <a:r>
              <a:rPr lang="en-US" sz="1600" dirty="0"/>
              <a:t>}</a:t>
            </a:r>
          </a:p>
          <a:p>
            <a:r>
              <a:rPr lang="en-US" sz="1600" dirty="0"/>
              <a:t>&lt;/style&gt;</a:t>
            </a:r>
          </a:p>
          <a:p>
            <a:r>
              <a:rPr lang="en-US" sz="1600" dirty="0"/>
              <a:t>&lt;/head&gt;</a:t>
            </a:r>
          </a:p>
          <a:p>
            <a:r>
              <a:rPr lang="en-US" sz="1600" dirty="0"/>
              <a:t>&lt;body&gt;</a:t>
            </a:r>
          </a:p>
          <a:p>
            <a:r>
              <a:rPr lang="en-US" sz="1600" dirty="0"/>
              <a:t>&lt;h1&gt;Multiple DIV Elements&lt;/h1&gt;</a:t>
            </a:r>
          </a:p>
          <a:p>
            <a:r>
              <a:rPr lang="en-US" sz="1600" dirty="0"/>
              <a:t>&lt;div class = "</a:t>
            </a:r>
            <a:r>
              <a:rPr lang="en-US" sz="1600" dirty="0" err="1"/>
              <a:t>mycontainer</a:t>
            </a:r>
            <a:r>
              <a:rPr lang="en-US" sz="1600" dirty="0"/>
              <a:t>"&gt;</a:t>
            </a:r>
          </a:p>
          <a:p>
            <a:r>
              <a:rPr lang="en-US" sz="1600" dirty="0"/>
              <a:t>  &lt;div style="background-color:#40AAA3;"&gt;</a:t>
            </a:r>
          </a:p>
          <a:p>
            <a:r>
              <a:rPr lang="en-US" sz="1600" dirty="0"/>
              <a:t>   &lt;h2&gt;Peshawar&lt;/h2&gt;</a:t>
            </a:r>
          </a:p>
          <a:p>
            <a:r>
              <a:rPr lang="en-US" sz="1600" dirty="0"/>
              <a:t>   &lt;p&gt;Peshawar is the sixth most populous city of Pakistan,      with a population of over 4.7 million in the 2023     census.    It is the capital of the province of Khyber     Pakhtunkhwa. &lt;/p&gt;</a:t>
            </a:r>
          </a:p>
          <a:p>
            <a:r>
              <a:rPr lang="en-US" sz="1600" dirty="0"/>
              <a:t>   &lt;/div&gt;</a:t>
            </a:r>
          </a:p>
          <a:p>
            <a:r>
              <a:rPr lang="en-US" sz="1600" dirty="0"/>
              <a:t>  &lt;div style="background-color:#FFC0C7;"&gt;</a:t>
            </a:r>
          </a:p>
          <a:p>
            <a:r>
              <a:rPr lang="en-US" sz="1600" dirty="0"/>
              <a:t>   &lt;h2&gt;Islamabad&lt;/h2&gt;</a:t>
            </a:r>
          </a:p>
          <a:p>
            <a:r>
              <a:rPr lang="en-US" sz="1600" dirty="0"/>
              <a:t>   &lt;p&gt; Islamabad is the capital city of the Islamic Republic     of Pakistan. It is the country's ninth-most populous     city with a population of over 1.2 million people.&lt;/p&gt;</a:t>
            </a:r>
          </a:p>
          <a:p>
            <a:r>
              <a:rPr lang="en-US" sz="1600" dirty="0"/>
              <a:t>  &lt;/div&gt;</a:t>
            </a:r>
          </a:p>
          <a:p>
            <a:r>
              <a:rPr lang="en-US" sz="1600" dirty="0"/>
              <a:t>&lt;/div&gt;&lt;/body&gt;&lt;/html&gt;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973504E-C447-4A40-84D7-1FCEBEA55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0237" y="506980"/>
            <a:ext cx="7849800" cy="325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081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833CD8B-6D0C-457F-BD18-ADD38D281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&lt;section&gt;</a:t>
            </a:r>
            <a:br>
              <a:rPr kumimoji="0" lang="en-US" altLang="en-US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6B07891A-C8BE-4A9E-A128-DF0388C01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The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var(--font-code)"/>
              </a:rPr>
              <a:t>&lt;section&gt;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</a:t>
            </a:r>
            <a:r>
              <a:rPr lang="en-US" altLang="en-US" dirty="0">
                <a:solidFill>
                  <a:srgbClr val="1B1B1B"/>
                </a:solidFill>
                <a:latin typeface="Inter"/>
              </a:rPr>
              <a:t>HTML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1B1B1B"/>
                </a:solidFill>
                <a:effectLst/>
                <a:latin typeface="Inter"/>
              </a:rPr>
              <a:t> element represents a generic standalone section of a document.</a:t>
            </a:r>
          </a:p>
          <a:p>
            <a:r>
              <a:rPr lang="en-US" sz="2800" b="0" i="0" dirty="0">
                <a:solidFill>
                  <a:srgbClr val="273239"/>
                </a:solidFill>
                <a:effectLst/>
                <a:latin typeface="Nunito" pitchFamily="2" charset="0"/>
              </a:rPr>
              <a:t>Section tag is used to distribute the content with a similar theme. The main advantage of the section tag is, it describes its meaning in a web page. It is mostly used when headers, footers, or any other section of documents are needed in a web page. Requires closing &lt;/section&gt; tag too.</a:t>
            </a:r>
            <a:endParaRPr lang="en-US" dirty="0">
              <a:solidFill>
                <a:srgbClr val="1B1B1B"/>
              </a:solidFill>
              <a:latin typeface="Inter"/>
            </a:endParaRPr>
          </a:p>
          <a:p>
            <a:r>
              <a:rPr lang="en-US" sz="2800" b="0" i="0" dirty="0">
                <a:solidFill>
                  <a:schemeClr val="accent1">
                    <a:lumMod val="75000"/>
                  </a:schemeClr>
                </a:solidFill>
                <a:effectLst/>
                <a:latin typeface="SFMono-Regular"/>
              </a:rPr>
              <a:t>&lt;section&gt; &lt;h2&gt;About Us&lt;/h2&gt; &lt;p&gt;We are a team of passionate developers...&lt;/p&gt; &lt;/section&gt;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2311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CSS selectors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CSS selectors are used to "find" (or select) the HTML elements you want to style and can be divided into five categories:</a:t>
            </a:r>
          </a:p>
          <a:p>
            <a:r>
              <a:rPr lang="en-US" dirty="0"/>
              <a:t>Simple selectors (select elements based on name, id, class)</a:t>
            </a:r>
          </a:p>
          <a:p>
            <a:r>
              <a:rPr lang="en-US" dirty="0" err="1"/>
              <a:t>Combinator</a:t>
            </a:r>
            <a:r>
              <a:rPr lang="en-US" dirty="0"/>
              <a:t> selectors (select elements based on a specific relationship between them)</a:t>
            </a:r>
          </a:p>
          <a:p>
            <a:r>
              <a:rPr lang="en-US" dirty="0"/>
              <a:t>Pseudo-class selectors (select elements based on a certain state)</a:t>
            </a:r>
          </a:p>
          <a:p>
            <a:r>
              <a:rPr lang="en-US" dirty="0"/>
              <a:t>Pseudo-elements selectors (select and style a part of an element)</a:t>
            </a:r>
          </a:p>
          <a:p>
            <a:r>
              <a:rPr lang="en-US" dirty="0"/>
              <a:t>Attribute selectors (select elements based on an attribute or attribute value)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64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85762B-371F-4B93-96FF-3EEC2EE85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Combinator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8ACDFD9-BD01-467B-A6A2-4C7CEF69B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CSS selector can contain more than one simple selector. </a:t>
            </a:r>
            <a:r>
              <a:rPr lang="en-US" dirty="0"/>
              <a:t>It 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explains the relationship between the selectors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descendant selector (space)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child selector (&gt;)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adjacent sibling selector (+)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general sibling selector (~)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6273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2B74E31-A7AB-4582-B809-45071F26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2131"/>
          </a:xfrm>
        </p:spPr>
        <p:txBody>
          <a:bodyPr>
            <a:normAutofit fontScale="90000"/>
          </a:bodyPr>
          <a:lstStyle/>
          <a:p>
            <a:r>
              <a:rPr lang="en-US" dirty="0"/>
              <a:t>Combinator selectors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DC07EB6-51D4-4682-A354-D66B6FD4A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7256"/>
            <a:ext cx="10515600" cy="583644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div p {</a:t>
            </a:r>
          </a:p>
          <a:p>
            <a:r>
              <a:rPr lang="en-US" dirty="0"/>
              <a:t>  background-color: </a:t>
            </a:r>
            <a:r>
              <a:rPr lang="en-US" dirty="0" err="1"/>
              <a:t>lightgrey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&lt;h2&gt;</a:t>
            </a:r>
            <a:r>
              <a:rPr lang="en-US" dirty="0" err="1"/>
              <a:t>decendant</a:t>
            </a:r>
            <a:r>
              <a:rPr lang="en-US" dirty="0"/>
              <a:t> Selector&lt;/h2&gt;</a:t>
            </a:r>
          </a:p>
          <a:p>
            <a:r>
              <a:rPr lang="en-US" dirty="0"/>
              <a:t>&lt;p&gt;The </a:t>
            </a:r>
            <a:r>
              <a:rPr lang="en-US" dirty="0" err="1"/>
              <a:t>decendant</a:t>
            </a:r>
            <a:r>
              <a:rPr lang="en-US" dirty="0"/>
              <a:t> will be affected by the selector &lt;/p&gt;</a:t>
            </a:r>
          </a:p>
          <a:p>
            <a:r>
              <a:rPr lang="en-US" dirty="0"/>
              <a:t>&lt;div&gt;</a:t>
            </a:r>
          </a:p>
          <a:p>
            <a:r>
              <a:rPr lang="en-US" dirty="0"/>
              <a:t>  &lt;p&gt;I am in the div.&lt;/p&gt;</a:t>
            </a:r>
          </a:p>
          <a:p>
            <a:r>
              <a:rPr lang="en-US" dirty="0"/>
              <a:t>    &lt;section&gt;</a:t>
            </a:r>
          </a:p>
          <a:p>
            <a:r>
              <a:rPr lang="en-US" dirty="0"/>
              <a:t>       &lt;p&gt;I am still in the div (inside a section element).&lt;/p&gt;</a:t>
            </a:r>
          </a:p>
          <a:p>
            <a:r>
              <a:rPr lang="en-US" dirty="0"/>
              <a:t>  &lt;/section&gt;</a:t>
            </a:r>
          </a:p>
          <a:p>
            <a:r>
              <a:rPr lang="en-US" dirty="0"/>
              <a:t>  &lt;p&gt;I am in the div.&lt;/p&gt;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&lt;p&gt;outside the div.&lt;/p&gt;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2CA256F-2377-44CF-9C08-88C271595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4888" y="814383"/>
            <a:ext cx="6977062" cy="255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3985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DAC964-108C-4F28-B384-59AFBCB0D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C0D17E6-FC5E-437B-8BF3-C12C73BB99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Child Selector (&gt;)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child selector selects all elements that are the children of a specified element.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117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EFC4E71-94F4-4498-ABDF-8112EA8A6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315912"/>
          </a:xfrm>
        </p:spPr>
        <p:txBody>
          <a:bodyPr>
            <a:noAutofit/>
          </a:bodyPr>
          <a:lstStyle/>
          <a:p>
            <a:r>
              <a:rPr lang="en-US" sz="32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Child Selector (&gt;)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B2BCDF-4C58-4453-970E-AD0400C5D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81038"/>
            <a:ext cx="10515600" cy="607695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div &gt; p {</a:t>
            </a:r>
          </a:p>
          <a:p>
            <a:r>
              <a:rPr lang="en-US" dirty="0"/>
              <a:t>  background-color: 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&lt;h2&gt;Child Selector&lt;/h2&gt;</a:t>
            </a:r>
          </a:p>
          <a:p>
            <a:r>
              <a:rPr lang="en-US" dirty="0"/>
              <a:t>&lt;p&gt;The </a:t>
            </a:r>
            <a:r>
              <a:rPr lang="en-US" dirty="0" err="1"/>
              <a:t>decendant</a:t>
            </a:r>
            <a:r>
              <a:rPr lang="en-US" dirty="0"/>
              <a:t> will be affected by the selector &lt;/p&gt;</a:t>
            </a:r>
          </a:p>
          <a:p>
            <a:r>
              <a:rPr lang="en-US" dirty="0"/>
              <a:t>&lt;div&gt;</a:t>
            </a:r>
          </a:p>
          <a:p>
            <a:r>
              <a:rPr lang="en-US" dirty="0"/>
              <a:t>  &lt;p&gt;I am in the div.&lt;/p&gt;</a:t>
            </a:r>
          </a:p>
          <a:p>
            <a:r>
              <a:rPr lang="en-US" dirty="0"/>
              <a:t>    &lt;section&gt;</a:t>
            </a:r>
          </a:p>
          <a:p>
            <a:r>
              <a:rPr lang="en-US" dirty="0"/>
              <a:t>       &lt;p&gt;I am not the child(inside a section element).&lt;/p&gt;</a:t>
            </a:r>
          </a:p>
          <a:p>
            <a:r>
              <a:rPr lang="en-US" dirty="0"/>
              <a:t>  &lt;/section&gt;</a:t>
            </a:r>
          </a:p>
          <a:p>
            <a:r>
              <a:rPr lang="en-US" dirty="0"/>
              <a:t>  &lt;p&gt;I am in the div.&lt;/p&gt;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&lt;p&gt;outside the div.&lt;/p&gt;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A88B6BC-EE64-40A5-BBBD-9B57F4722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305" y="300033"/>
            <a:ext cx="7027069" cy="258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0222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9191C4-30B0-4DD8-AA52-EDCD11BA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2125"/>
          </a:xfrm>
        </p:spPr>
        <p:txBody>
          <a:bodyPr>
            <a:noAutofit/>
          </a:bodyPr>
          <a:lstStyle/>
          <a:p>
            <a:r>
              <a:rPr lang="en-US" sz="3600" b="1" dirty="0"/>
              <a:t>Adjacent Sibling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CC16DB-23BF-47ED-9A70-AD430D071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7250"/>
            <a:ext cx="10515600" cy="5900738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div + p {</a:t>
            </a:r>
          </a:p>
          <a:p>
            <a:r>
              <a:rPr lang="en-US" dirty="0"/>
              <a:t>  background-color: 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&lt;h2&gt;Adjacent Sibling Selector&lt;/h2&gt;</a:t>
            </a:r>
          </a:p>
          <a:p>
            <a:r>
              <a:rPr lang="en-US" dirty="0"/>
              <a:t>&lt;p&gt; styling is </a:t>
            </a:r>
            <a:r>
              <a:rPr lang="en-US" dirty="0" err="1"/>
              <a:t>appllied</a:t>
            </a:r>
            <a:r>
              <a:rPr lang="en-US" dirty="0"/>
              <a:t> to adjacent sibling of </a:t>
            </a:r>
            <a:r>
              <a:rPr lang="en-US" dirty="0" err="1"/>
              <a:t>Div</a:t>
            </a:r>
            <a:r>
              <a:rPr lang="en-US" dirty="0"/>
              <a:t>&lt;/p&gt;&lt;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&lt;div&gt;</a:t>
            </a:r>
          </a:p>
          <a:p>
            <a:r>
              <a:rPr lang="en-US" dirty="0"/>
              <a:t>  &lt;p&gt;Paragraph 1 of the first the div.&lt;/p&gt;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&lt;p&gt;Paragraph 2 after first div.&lt;/p&gt;</a:t>
            </a:r>
          </a:p>
          <a:p>
            <a:r>
              <a:rPr lang="en-US" dirty="0"/>
              <a:t>&lt;div&gt;</a:t>
            </a:r>
          </a:p>
          <a:p>
            <a:r>
              <a:rPr lang="en-US" dirty="0"/>
              <a:t>  &lt;p&gt;Paragraph 3 in second div.&lt;/p&gt;</a:t>
            </a:r>
          </a:p>
          <a:p>
            <a:r>
              <a:rPr lang="en-US" dirty="0"/>
              <a:t>  &lt;p&gt;Paragraph 4 in second div.&lt;/p&gt;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  &lt;p&gt;Paragraph 5 after second div.&lt;/p&gt;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D57D43B-931B-4FD4-8D4D-5A80AFA984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5115" y="414338"/>
            <a:ext cx="5619750" cy="461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053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F50C56B-1652-4B5E-91CA-40F0555BF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General Sibling Selector (~)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6FCE2DE-2C6B-4579-90CA-7974B44B31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General Sibling Selector (~)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general sibling selector selects all elements that are next siblings of a specified element.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following example selects all &lt;p&gt; elements that are next siblings of &lt;div&gt; elements: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340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9A56442-F269-43E8-8146-29C70B249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9263"/>
          </a:xfrm>
        </p:spPr>
        <p:txBody>
          <a:bodyPr>
            <a:normAutofit fontScale="90000"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General Sibling Selector (~)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183773C-A452-4834-A834-326C0E829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2944"/>
            <a:ext cx="10515600" cy="6086475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div ~ p {</a:t>
            </a:r>
          </a:p>
          <a:p>
            <a:r>
              <a:rPr lang="en-US" dirty="0"/>
              <a:t>  background-color: </a:t>
            </a:r>
            <a:r>
              <a:rPr lang="en-US" dirty="0" err="1"/>
              <a:t>lightblue</a:t>
            </a:r>
            <a:r>
              <a:rPr lang="en-US" dirty="0"/>
              <a:t>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&lt;h2&gt;General Sibling Selector&lt;/h2&gt;</a:t>
            </a:r>
          </a:p>
          <a:p>
            <a:r>
              <a:rPr lang="en-US" dirty="0"/>
              <a:t>&lt;p&gt; styling is </a:t>
            </a:r>
            <a:r>
              <a:rPr lang="en-US" dirty="0" err="1"/>
              <a:t>appllied</a:t>
            </a:r>
            <a:r>
              <a:rPr lang="en-US" dirty="0"/>
              <a:t> to all sibling of </a:t>
            </a:r>
            <a:r>
              <a:rPr lang="en-US" dirty="0" err="1"/>
              <a:t>Div</a:t>
            </a:r>
            <a:r>
              <a:rPr lang="en-US" dirty="0"/>
              <a:t>&lt;/p&gt;&lt;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&lt;div&gt;</a:t>
            </a:r>
          </a:p>
          <a:p>
            <a:r>
              <a:rPr lang="en-US" dirty="0"/>
              <a:t>  &lt;p&gt;Paragraph 1 of the first the div.&lt;/p&gt;</a:t>
            </a:r>
          </a:p>
          <a:p>
            <a:r>
              <a:rPr lang="en-US" dirty="0"/>
              <a:t>  &lt;/div&gt;</a:t>
            </a:r>
          </a:p>
          <a:p>
            <a:r>
              <a:rPr lang="en-US" dirty="0"/>
              <a:t>&lt;p&gt;Paragraph 2 after first div.&lt;/p&gt;</a:t>
            </a:r>
          </a:p>
          <a:p>
            <a:r>
              <a:rPr lang="en-US" dirty="0"/>
              <a:t>&lt;div&gt;</a:t>
            </a:r>
          </a:p>
          <a:p>
            <a:r>
              <a:rPr lang="en-US" dirty="0"/>
              <a:t>  &lt;p&gt;Paragraph 3 in second div.&lt;/p&gt;</a:t>
            </a:r>
          </a:p>
          <a:p>
            <a:r>
              <a:rPr lang="en-US" dirty="0"/>
              <a:t>  &lt;p&gt;Paragraph 4 in second div.&lt;/p&gt;</a:t>
            </a:r>
          </a:p>
          <a:p>
            <a:r>
              <a:rPr lang="en-US" dirty="0"/>
              <a:t>&lt;/div&gt;</a:t>
            </a:r>
          </a:p>
          <a:p>
            <a:r>
              <a:rPr lang="en-US" dirty="0"/>
              <a:t>  &lt;p&gt;Paragraph 5 after second div.&lt;/p&gt;</a:t>
            </a:r>
          </a:p>
          <a:p>
            <a:r>
              <a:rPr lang="en-US" dirty="0"/>
              <a:t>&lt;p&gt;Paragraph 5 after second div.&lt;/p&gt;</a:t>
            </a:r>
          </a:p>
          <a:p>
            <a:r>
              <a:rPr lang="en-US" dirty="0"/>
              <a:t>&lt;p&gt;Paragraph 5 after second div.&lt;/p&gt;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49E4062-F47C-4FCF-9FFD-942B008F9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861" y="811291"/>
            <a:ext cx="5286375" cy="5353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8789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E2B4CCC-5617-4A07-AE91-BAD62A033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Pseudo-class selectors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5F4B0C-D4D9-47BC-87BA-AC1AA5043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pseudo-class is used to define a special state of an element.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It can be used to: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Style an element when a user mouses over it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Style visited and unvisited links differently</a:t>
            </a:r>
          </a:p>
          <a:p>
            <a:pPr lvl="1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Style an element when it gets focus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BE3F86E-E373-4869-888A-208A53126400}"/>
              </a:ext>
            </a:extLst>
          </p:cNvPr>
          <p:cNvSpPr/>
          <p:nvPr/>
        </p:nvSpPr>
        <p:spPr>
          <a:xfrm>
            <a:off x="1464469" y="4583863"/>
            <a:ext cx="701788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0" i="0" dirty="0" err="1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selector:pseudo-class</a:t>
            </a:r>
            <a:r>
              <a:rPr lang="en-US" sz="28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property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8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value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sz="28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072577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432222" y="984073"/>
            <a:ext cx="399063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a:link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#FF0000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visited link */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a:visited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#00FF00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mouse over link */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a:hover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#FF00FF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selected link */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a:active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#0000FF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/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1FE7FFC-BC74-4E15-B9DF-90D2ADBBB7B8}"/>
              </a:ext>
            </a:extLst>
          </p:cNvPr>
          <p:cNvSpPr txBox="1"/>
          <p:nvPr/>
        </p:nvSpPr>
        <p:spPr>
          <a:xfrm>
            <a:off x="648295" y="2234744"/>
            <a:ext cx="609719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Extends function of an element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The hover pseudo class is dynamically activated when the user move the mouse cursor over an A element</a:t>
            </a:r>
          </a:p>
          <a:p>
            <a:pPr lvl="1"/>
            <a:r>
              <a:rPr lang="en-US" sz="2800" dirty="0"/>
              <a:t>Allows author access to content not specifically declared in the document</a:t>
            </a:r>
          </a:p>
          <a:p>
            <a:pPr lvl="1"/>
            <a:endParaRPr lang="en-US" sz="2800" dirty="0"/>
          </a:p>
          <a:p>
            <a:r>
              <a:rPr lang="en-US" sz="2800" dirty="0"/>
              <a:t>A:hover { text-decoration: underline; color: red; background-color: #CCFFCC 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B4C0BF86-6DB1-4332-91C6-78A1511473D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Pseudo-class selectors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17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5943" y="58847"/>
            <a:ext cx="894805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&lt;html&gt;</a:t>
            </a:r>
          </a:p>
          <a:p>
            <a:r>
              <a:rPr lang="en-US" dirty="0"/>
              <a:t>&lt;head&gt;</a:t>
            </a:r>
          </a:p>
          <a:p>
            <a:r>
              <a:rPr lang="en-US" dirty="0"/>
              <a:t>&lt;style&gt;</a:t>
            </a:r>
          </a:p>
          <a:p>
            <a:r>
              <a:rPr lang="en-US" dirty="0"/>
              <a:t>div {</a:t>
            </a:r>
          </a:p>
          <a:p>
            <a:r>
              <a:rPr lang="en-US" dirty="0"/>
              <a:t>  background-color: green;</a:t>
            </a:r>
          </a:p>
          <a:p>
            <a:r>
              <a:rPr lang="en-US" dirty="0"/>
              <a:t>  color: white;</a:t>
            </a:r>
          </a:p>
          <a:p>
            <a:r>
              <a:rPr lang="en-US" dirty="0"/>
              <a:t>  padding: 25px;</a:t>
            </a:r>
          </a:p>
          <a:p>
            <a:r>
              <a:rPr lang="en-US" dirty="0"/>
              <a:t>  text-align: center;</a:t>
            </a:r>
          </a:p>
          <a:p>
            <a:r>
              <a:rPr lang="en-US" dirty="0"/>
              <a:t>}</a:t>
            </a:r>
          </a:p>
          <a:p>
            <a:endParaRPr lang="en-US" dirty="0"/>
          </a:p>
          <a:p>
            <a:r>
              <a:rPr lang="en-US" dirty="0" err="1"/>
              <a:t>div:hover</a:t>
            </a:r>
            <a:r>
              <a:rPr lang="en-US" dirty="0"/>
              <a:t> {</a:t>
            </a:r>
          </a:p>
          <a:p>
            <a:r>
              <a:rPr lang="en-US" dirty="0"/>
              <a:t>  background-color: blue;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&lt;p&gt;Mouse over the div element below to change its background color:&lt;/p&gt;&lt;</a:t>
            </a:r>
            <a:r>
              <a:rPr lang="en-US" dirty="0" err="1"/>
              <a:t>br</a:t>
            </a:r>
            <a:r>
              <a:rPr lang="en-US" dirty="0"/>
              <a:t>&gt;</a:t>
            </a:r>
          </a:p>
          <a:p>
            <a:r>
              <a:rPr lang="en-US" dirty="0"/>
              <a:t>&lt;div&gt;I am in div and there is Mouse Over Me&lt;/div&gt;</a:t>
            </a:r>
          </a:p>
          <a:p>
            <a:r>
              <a:rPr lang="en-US" dirty="0"/>
              <a:t>&lt;/body&gt;</a:t>
            </a:r>
          </a:p>
          <a:p>
            <a:r>
              <a:rPr lang="en-US" dirty="0"/>
              <a:t>&lt;/html&gt;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8DB81CDB-38C7-4F87-8A47-F5B78B5A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8962" y="171449"/>
            <a:ext cx="5824537" cy="21918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5130BDD-B158-43CA-B4DD-6908E0043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940" y="2721773"/>
            <a:ext cx="5845947" cy="1707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053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A009EB43-8C63-4FE5-9A18-CB7F5654EC57}"/>
              </a:ext>
            </a:extLst>
          </p:cNvPr>
          <p:cNvSpPr txBox="1"/>
          <p:nvPr/>
        </p:nvSpPr>
        <p:spPr>
          <a:xfrm>
            <a:off x="591145" y="414427"/>
            <a:ext cx="609719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p {</a:t>
            </a:r>
          </a:p>
          <a:p>
            <a:r>
              <a:rPr lang="en-US" dirty="0"/>
              <a:t>  display: none;</a:t>
            </a:r>
          </a:p>
          <a:p>
            <a:r>
              <a:rPr lang="en-US" dirty="0"/>
              <a:t>  background-color: yellow;</a:t>
            </a:r>
          </a:p>
          <a:p>
            <a:r>
              <a:rPr lang="en-US" dirty="0"/>
              <a:t>  padding: 20px;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div {</a:t>
            </a:r>
          </a:p>
          <a:p>
            <a:r>
              <a:rPr lang="en-US" dirty="0"/>
              <a:t>  background-color: green;</a:t>
            </a:r>
          </a:p>
          <a:p>
            <a:r>
              <a:rPr lang="en-US" dirty="0"/>
              <a:t>  }</a:t>
            </a:r>
          </a:p>
          <a:p>
            <a:r>
              <a:rPr lang="en-US" dirty="0" err="1"/>
              <a:t>div:hover</a:t>
            </a:r>
            <a:r>
              <a:rPr lang="en-US" dirty="0"/>
              <a:t> p {</a:t>
            </a:r>
          </a:p>
          <a:p>
            <a:r>
              <a:rPr lang="en-US" dirty="0"/>
              <a:t>  display: block;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&lt;h2&gt; Pseudo class &lt;/h2&gt;</a:t>
            </a:r>
          </a:p>
          <a:p>
            <a:r>
              <a:rPr lang="en-US" dirty="0"/>
              <a:t>div is a generic container element that does not carry any semantic meaning. It is mostly used for grouping related elements together and applying styling to them via</a:t>
            </a:r>
          </a:p>
          <a:p>
            <a:r>
              <a:rPr lang="en-US" dirty="0"/>
              <a:t>&lt;div&gt; CSS.</a:t>
            </a:r>
          </a:p>
          <a:p>
            <a:r>
              <a:rPr lang="en-US" dirty="0"/>
              <a:t>  &lt;</a:t>
            </a:r>
            <a:r>
              <a:rPr lang="en-US" dirty="0" err="1"/>
              <a:t>br</a:t>
            </a:r>
            <a:r>
              <a:rPr lang="en-US" dirty="0"/>
              <a:t>&gt;&lt;p&gt;Cascading Style Sheets&lt;/p&gt;</a:t>
            </a:r>
          </a:p>
          <a:p>
            <a:r>
              <a:rPr lang="en-US" dirty="0"/>
              <a:t>&lt;/div&gt;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DF7D3CDB-1373-439D-9E1A-F50E10FB9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88" y="1233488"/>
            <a:ext cx="7419974" cy="2926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875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53349A4-6B14-4557-A3F5-E52675841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Pseudo-elements selectors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C9B8DF-9CD9-4508-BC99-FFBB61E0D7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A CSS pseudo-element is used to style specified parts of an element.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For example, it can be used to: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Style the first letter, or line, of an element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Insert content before, or after, the content of an element</a:t>
            </a:r>
          </a:p>
          <a:p>
            <a:r>
              <a:rPr lang="en-US" dirty="0"/>
              <a:t>The syntax of pseudo-elements:</a:t>
            </a:r>
          </a:p>
          <a:p>
            <a:pPr lvl="1"/>
            <a:r>
              <a:rPr lang="en-US" dirty="0"/>
              <a:t>selector::pseudo-element {</a:t>
            </a:r>
          </a:p>
          <a:p>
            <a:pPr lvl="1"/>
            <a:r>
              <a:rPr lang="en-US" dirty="0"/>
              <a:t>  property: value;</a:t>
            </a:r>
          </a:p>
          <a:p>
            <a:pPr lvl="1"/>
            <a:r>
              <a:rPr lang="en-US" dirty="0"/>
              <a:t>}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5438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355261-1AAA-41E0-83D4-EF5BE5ED1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Pseudo-elements selectors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B4C9E4-87D5-431A-8AA4-449AE6F44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p::first-line {</a:t>
            </a:r>
          </a:p>
          <a:p>
            <a:r>
              <a:rPr lang="en-US" dirty="0"/>
              <a:t>  color: #ff00A0;</a:t>
            </a:r>
          </a:p>
          <a:p>
            <a:r>
              <a:rPr lang="en-US" dirty="0"/>
              <a:t>  font-variant: small-caps;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&lt;h2&gt; Pseudo class elements &lt;/h2&gt;</a:t>
            </a:r>
          </a:p>
          <a:p>
            <a:r>
              <a:rPr lang="en-US" dirty="0"/>
              <a:t>&lt;p&gt;div is a generic container element that does not carry any semantic meaning. It is mostly used for grouping related elements together and applying styling to them via CSS&lt;/p&gt;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9895875-6D31-4D33-8EE1-47F76990BA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289" y="1312069"/>
            <a:ext cx="7490711" cy="239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15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A7F6EF5-9575-4166-BA85-A90A01E75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Pseudo-elements selectors 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D17989D6-FB57-468B-A8F0-EBA7417611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9972"/>
            <a:ext cx="10786927" cy="40626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following properties apply to the 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::first-line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pseudo-element: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font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color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background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word-spacing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letter-spacing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text-decoration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vertical-align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text-transform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line-height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7158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C739C5-0992-4724-88B1-5DF3A872D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Attribute selectors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C907D68-C5D3-4130-AC5C-B74B51944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[attribute] selector is used to select elements with a specified attribute.</a:t>
            </a:r>
          </a:p>
        </p:txBody>
      </p:sp>
    </p:spTree>
    <p:extLst>
      <p:ext uri="{BB962C8B-B14F-4D97-AF65-F5344CB8AC3E}">
        <p14:creationId xmlns:p14="http://schemas.microsoft.com/office/powerpoint/2010/main" val="946896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76FBED95-4626-43E7-8FCB-33D07875822C}"/>
              </a:ext>
            </a:extLst>
          </p:cNvPr>
          <p:cNvSpPr txBox="1"/>
          <p:nvPr/>
        </p:nvSpPr>
        <p:spPr>
          <a:xfrm>
            <a:off x="1712714" y="486847"/>
            <a:ext cx="60971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 for </a:t>
            </a:r>
            <a:r>
              <a:rPr lang="en-US" dirty="0" err="1"/>
              <a:t>href</a:t>
            </a:r>
            <a:r>
              <a:rPr lang="en-US" dirty="0"/>
              <a:t> and target properties in ‘A’ tag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6957336-AC31-4FD7-9F7B-37DC55F04A29}"/>
              </a:ext>
            </a:extLst>
          </p:cNvPr>
          <p:cNvSpPr txBox="1"/>
          <p:nvPr/>
        </p:nvSpPr>
        <p:spPr>
          <a:xfrm>
            <a:off x="341114" y="1225689"/>
            <a:ext cx="609719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&lt;style&gt;</a:t>
            </a:r>
          </a:p>
          <a:p>
            <a:r>
              <a:rPr lang="en-US" dirty="0"/>
              <a:t>a[</a:t>
            </a:r>
            <a:r>
              <a:rPr lang="en-US" dirty="0" err="1"/>
              <a:t>href</a:t>
            </a:r>
            <a:r>
              <a:rPr lang="en-US" dirty="0"/>
              <a:t>^="http"] {</a:t>
            </a:r>
          </a:p>
          <a:p>
            <a:r>
              <a:rPr lang="en-US" dirty="0"/>
              <a:t>  color: #ff00A0;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a[target="_blank"] {</a:t>
            </a:r>
          </a:p>
          <a:p>
            <a:r>
              <a:rPr lang="en-US" dirty="0"/>
              <a:t>  background-color: yellow;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&lt;/style&gt;</a:t>
            </a:r>
          </a:p>
          <a:p>
            <a:r>
              <a:rPr lang="en-US" dirty="0"/>
              <a:t>&lt;/head&gt;</a:t>
            </a:r>
          </a:p>
          <a:p>
            <a:r>
              <a:rPr lang="en-US" dirty="0"/>
              <a:t>&lt;body&gt;</a:t>
            </a:r>
          </a:p>
          <a:p>
            <a:r>
              <a:rPr lang="en-US" dirty="0"/>
              <a:t>&lt;h2&gt; Attribute Selectors &lt;/h2&gt;</a:t>
            </a:r>
          </a:p>
          <a:p>
            <a:r>
              <a:rPr lang="en-US" dirty="0"/>
              <a:t>&lt;p&gt;The [attribute="value"] selector is used to select elements with a specified attribute and value.</a:t>
            </a:r>
          </a:p>
          <a:p>
            <a:endParaRPr lang="en-US" dirty="0"/>
          </a:p>
          <a:p>
            <a:r>
              <a:rPr lang="en-US" dirty="0"/>
              <a:t>The following example selects all &lt;a&gt; elements with a target="_blank" attribute:&lt;/p&gt;</a:t>
            </a:r>
          </a:p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="http://www.disney.com"     target="_blank"&gt;disney.com&lt;/a&gt;</a:t>
            </a:r>
          </a:p>
          <a:p>
            <a:r>
              <a:rPr lang="en-US" dirty="0"/>
              <a:t>&lt;a </a:t>
            </a:r>
            <a:r>
              <a:rPr lang="en-US" dirty="0" err="1"/>
              <a:t>hreff</a:t>
            </a:r>
            <a:r>
              <a:rPr lang="en-US" dirty="0"/>
              <a:t>="#"&gt; Internal link &lt;/a&gt;</a:t>
            </a:r>
          </a:p>
          <a:p>
            <a:r>
              <a:rPr lang="en-US" dirty="0"/>
              <a:t>&lt;a </a:t>
            </a:r>
            <a:r>
              <a:rPr lang="en-US" dirty="0" err="1"/>
              <a:t>href</a:t>
            </a:r>
            <a:r>
              <a:rPr lang="en-US" dirty="0"/>
              <a:t>="https://www.google.com"&gt;Google&lt;/a&gt;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BD219E6-D54C-4DF3-BA0B-3B238B3FC1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3368" y="1371600"/>
            <a:ext cx="7584281" cy="2795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6960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Styles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Attaching a specific style class with a specific element</a:t>
            </a:r>
          </a:p>
          <a:p>
            <a:r>
              <a:rPr lang="en-US" dirty="0"/>
              <a:t>.</a:t>
            </a:r>
            <a:r>
              <a:rPr lang="en-US" dirty="0" err="1"/>
              <a:t>nodec</a:t>
            </a:r>
            <a:r>
              <a:rPr lang="en-US" dirty="0"/>
              <a:t> is an extension of class styles </a:t>
            </a:r>
          </a:p>
          <a:p>
            <a:pPr lvl="1"/>
            <a:r>
              <a:rPr lang="en-US" dirty="0"/>
              <a:t>- this applies to all A elements with class = “</a:t>
            </a:r>
            <a:r>
              <a:rPr lang="en-US" dirty="0" err="1"/>
              <a:t>nodec</a:t>
            </a:r>
            <a:r>
              <a:rPr lang="en-US" dirty="0"/>
              <a:t>” attribute</a:t>
            </a:r>
          </a:p>
          <a:p>
            <a:r>
              <a:rPr lang="en-US" dirty="0"/>
              <a:t>The default rendering of an A element is underline. </a:t>
            </a:r>
          </a:p>
          <a:p>
            <a:r>
              <a:rPr lang="en-US" dirty="0" err="1"/>
              <a:t>A.nodec</a:t>
            </a:r>
            <a:r>
              <a:rPr lang="en-US" dirty="0"/>
              <a:t> { text-decoration: none }</a:t>
            </a:r>
          </a:p>
          <a:p>
            <a:pPr lvl="1"/>
            <a:r>
              <a:rPr lang="en-US" dirty="0"/>
              <a:t>Overrides an element function</a:t>
            </a:r>
          </a:p>
          <a:p>
            <a:pPr lvl="2"/>
            <a:r>
              <a:rPr lang="en-US" dirty="0"/>
              <a:t>If A is used with </a:t>
            </a:r>
            <a:r>
              <a:rPr lang="en-US" dirty="0" err="1"/>
              <a:t>nodec</a:t>
            </a:r>
            <a:r>
              <a:rPr lang="en-US" dirty="0"/>
              <a:t> class the text will not be underlined</a:t>
            </a:r>
          </a:p>
          <a:p>
            <a:pPr lvl="1"/>
            <a:r>
              <a:rPr lang="en-US" dirty="0"/>
              <a:t>&lt;P&gt;&lt;A CLASS = "</a:t>
            </a:r>
            <a:r>
              <a:rPr lang="en-US" dirty="0" err="1"/>
              <a:t>nodec</a:t>
            </a:r>
            <a:r>
              <a:rPr lang="en-US" dirty="0"/>
              <a:t>" HREF = "http://school.com"&gt;</a:t>
            </a:r>
          </a:p>
          <a:p>
            <a:pPr lvl="1"/>
            <a:r>
              <a:rPr lang="en-US" dirty="0"/>
              <a:t>Go to the School&lt;/A&gt;&lt;/P&gt;</a:t>
            </a:r>
          </a:p>
        </p:txBody>
      </p:sp>
    </p:spTree>
    <p:extLst>
      <p:ext uri="{BB962C8B-B14F-4D97-AF65-F5344CB8AC3E}">
        <p14:creationId xmlns:p14="http://schemas.microsoft.com/office/powerpoint/2010/main" val="1332319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Internal Styles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Possible values for the text-decoration property:</a:t>
            </a:r>
          </a:p>
          <a:p>
            <a:r>
              <a:rPr lang="en-US" b="1" dirty="0"/>
              <a:t>Applies decorations to text within an element</a:t>
            </a:r>
          </a:p>
          <a:p>
            <a:pPr lvl="1"/>
            <a:r>
              <a:rPr lang="en-US" b="1" dirty="0"/>
              <a:t>None</a:t>
            </a:r>
          </a:p>
          <a:p>
            <a:pPr lvl="1"/>
            <a:r>
              <a:rPr lang="en-US" b="1" dirty="0"/>
              <a:t>underline</a:t>
            </a:r>
          </a:p>
          <a:p>
            <a:pPr lvl="1"/>
            <a:r>
              <a:rPr lang="en-US" b="1" dirty="0" err="1"/>
              <a:t>overline</a:t>
            </a:r>
            <a:endParaRPr lang="en-US" b="1" dirty="0"/>
          </a:p>
          <a:p>
            <a:pPr lvl="1"/>
            <a:r>
              <a:rPr lang="en-US" b="1" dirty="0"/>
              <a:t>line-through</a:t>
            </a:r>
          </a:p>
          <a:p>
            <a:pPr lvl="1"/>
            <a:r>
              <a:rPr lang="en-US" b="1" dirty="0"/>
              <a:t>blink (Browsers are not required to support blink)</a:t>
            </a:r>
          </a:p>
        </p:txBody>
      </p:sp>
    </p:spTree>
    <p:extLst>
      <p:ext uri="{BB962C8B-B14F-4D97-AF65-F5344CB8AC3E}">
        <p14:creationId xmlns:p14="http://schemas.microsoft.com/office/powerpoint/2010/main" val="5119881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 err="1"/>
              <a:t>nodec</a:t>
            </a:r>
            <a:r>
              <a:rPr lang="en-US" dirty="0"/>
              <a:t> and hover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6248" y="1825625"/>
            <a:ext cx="647950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23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687" y="-52388"/>
            <a:ext cx="7286625" cy="696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1116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External Styles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most common place to put style information is in an external document that each page of a web site points to directly.</a:t>
            </a:r>
          </a:p>
          <a:p>
            <a:r>
              <a:rPr lang="en-US" dirty="0"/>
              <a:t>Any changes made to this single document will then be applied throughout the entire web site as each page is accessed by users.</a:t>
            </a:r>
          </a:p>
          <a:p>
            <a:r>
              <a:rPr lang="en-US" dirty="0"/>
              <a:t>External Style Sheets have a .</a:t>
            </a:r>
            <a:r>
              <a:rPr lang="en-US" dirty="0" err="1"/>
              <a:t>css</a:t>
            </a:r>
            <a:r>
              <a:rPr lang="en-US" dirty="0"/>
              <a:t> extension.</a:t>
            </a:r>
          </a:p>
          <a:p>
            <a:pPr lvl="1"/>
            <a:r>
              <a:rPr lang="en-US" dirty="0"/>
              <a:t>The .</a:t>
            </a:r>
            <a:r>
              <a:rPr lang="en-US" dirty="0" err="1"/>
              <a:t>css</a:t>
            </a:r>
            <a:r>
              <a:rPr lang="en-US" dirty="0"/>
              <a:t> file should not contain any HTML.</a:t>
            </a:r>
          </a:p>
          <a:p>
            <a:pPr lvl="1"/>
            <a:r>
              <a:rPr lang="en-US" dirty="0"/>
              <a:t>Put .</a:t>
            </a:r>
            <a:r>
              <a:rPr lang="en-US" dirty="0" err="1"/>
              <a:t>css</a:t>
            </a:r>
            <a:r>
              <a:rPr lang="en-US" dirty="0"/>
              <a:t> file within the same directory so the link works.</a:t>
            </a:r>
          </a:p>
        </p:txBody>
      </p:sp>
    </p:spTree>
    <p:extLst>
      <p:ext uri="{BB962C8B-B14F-4D97-AF65-F5344CB8AC3E}">
        <p14:creationId xmlns:p14="http://schemas.microsoft.com/office/powerpoint/2010/main" val="26250726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Linking External Style Sheets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external linking, separate pages can use the same style sheet.</a:t>
            </a:r>
          </a:p>
          <a:p>
            <a:r>
              <a:rPr lang="en-US" dirty="0"/>
              <a:t>A link element (in the header section) specifies a relationship between the current document and another document using the ‘</a:t>
            </a:r>
            <a:r>
              <a:rPr lang="en-US" dirty="0" err="1"/>
              <a:t>rel</a:t>
            </a:r>
            <a:r>
              <a:rPr lang="en-US" dirty="0"/>
              <a:t>’ attribute.</a:t>
            </a:r>
          </a:p>
          <a:p>
            <a:r>
              <a:rPr lang="en-US" dirty="0"/>
              <a:t>For example, suppose we have a style sheet with name mystyles.css.</a:t>
            </a:r>
          </a:p>
          <a:p>
            <a:r>
              <a:rPr lang="en-US" dirty="0"/>
              <a:t>Then the following declares the linked document with this URL to be a stylesheet (and the MIME type to be text/</a:t>
            </a:r>
            <a:r>
              <a:rPr lang="en-US" dirty="0" err="1"/>
              <a:t>css</a:t>
            </a:r>
            <a:r>
              <a:rPr lang="en-US" dirty="0"/>
              <a:t>):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&lt;link </a:t>
            </a:r>
            <a:r>
              <a:rPr lang="en-US" dirty="0" err="1"/>
              <a:t>rel</a:t>
            </a:r>
            <a:r>
              <a:rPr lang="en-US" dirty="0"/>
              <a:t> = “stylesheet” type = “text/</a:t>
            </a:r>
            <a:r>
              <a:rPr lang="en-US" dirty="0" err="1"/>
              <a:t>css</a:t>
            </a:r>
            <a:r>
              <a:rPr lang="en-US" dirty="0"/>
              <a:t>” </a:t>
            </a:r>
            <a:r>
              <a:rPr lang="en-US" dirty="0" err="1"/>
              <a:t>href</a:t>
            </a:r>
            <a:r>
              <a:rPr lang="en-US" dirty="0"/>
              <a:t> = “mystyles.css”&gt;</a:t>
            </a:r>
          </a:p>
        </p:txBody>
      </p:sp>
    </p:spTree>
    <p:extLst>
      <p:ext uri="{BB962C8B-B14F-4D97-AF65-F5344CB8AC3E}">
        <p14:creationId xmlns:p14="http://schemas.microsoft.com/office/powerpoint/2010/main" val="31146996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15959" y="1825625"/>
            <a:ext cx="4626081" cy="4351338"/>
          </a:xfrm>
          <a:prstGeom prst="rect">
            <a:avLst/>
          </a:prstGeom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742040" y="796809"/>
            <a:ext cx="5181600" cy="224818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040" y="3148869"/>
            <a:ext cx="6617885" cy="3355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01429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7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Design a web page using all types of selectors and different properties to show text, headings, paragraphs, and links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0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293</TotalTime>
  <Words>1956</Words>
  <Application>Microsoft Office PowerPoint</Application>
  <PresentationFormat>Custom</PresentationFormat>
  <Paragraphs>301</Paragraphs>
  <Slides>33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Office Theme</vt:lpstr>
      <vt:lpstr>Cascading Style Sheets</vt:lpstr>
      <vt:lpstr>Div and CSS</vt:lpstr>
      <vt:lpstr>&lt;div&gt; as a container</vt:lpstr>
      <vt:lpstr>PowerPoint Presentation</vt:lpstr>
      <vt:lpstr>PowerPoint Presentation</vt:lpstr>
      <vt:lpstr>PowerPoint Presentation</vt:lpstr>
      <vt:lpstr>PowerPoint Presentation</vt:lpstr>
      <vt:lpstr>&lt;section&gt; </vt:lpstr>
      <vt:lpstr>CSS selectors</vt:lpstr>
      <vt:lpstr>Combinator selectors</vt:lpstr>
      <vt:lpstr>Combinator selectors</vt:lpstr>
      <vt:lpstr>PowerPoint Presentation</vt:lpstr>
      <vt:lpstr>Child Selector (&gt;)</vt:lpstr>
      <vt:lpstr>Adjacent Sibling Selector</vt:lpstr>
      <vt:lpstr>General Sibling Selector (~)</vt:lpstr>
      <vt:lpstr>General Sibling Selector (~)</vt:lpstr>
      <vt:lpstr>Pseudo-class selectors </vt:lpstr>
      <vt:lpstr>PowerPoint Presentation</vt:lpstr>
      <vt:lpstr>PowerPoint Presentation</vt:lpstr>
      <vt:lpstr>PowerPoint Presentation</vt:lpstr>
      <vt:lpstr>Pseudo-elements selectors </vt:lpstr>
      <vt:lpstr>Pseudo-elements selectors </vt:lpstr>
      <vt:lpstr>Pseudo-elements selectors </vt:lpstr>
      <vt:lpstr>Attribute selectors </vt:lpstr>
      <vt:lpstr>PowerPoint Presentation</vt:lpstr>
      <vt:lpstr>Internal Styles </vt:lpstr>
      <vt:lpstr>Internal Styles </vt:lpstr>
      <vt:lpstr>Example of nodec and hover</vt:lpstr>
      <vt:lpstr>PowerPoint Presentation</vt:lpstr>
      <vt:lpstr>External Styles </vt:lpstr>
      <vt:lpstr>Linking External Style Sheets </vt:lpstr>
      <vt:lpstr>Example</vt:lpstr>
      <vt:lpstr>Lab 7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</dc:title>
  <dc:creator>haya</dc:creator>
  <cp:lastModifiedBy>Windows User</cp:lastModifiedBy>
  <cp:revision>23</cp:revision>
  <dcterms:created xsi:type="dcterms:W3CDTF">2024-03-20T17:54:51Z</dcterms:created>
  <dcterms:modified xsi:type="dcterms:W3CDTF">2023-12-05T12:38:34Z</dcterms:modified>
</cp:coreProperties>
</file>