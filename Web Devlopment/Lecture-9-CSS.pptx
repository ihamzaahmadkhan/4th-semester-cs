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6" r:id="rId3"/>
    <p:sldId id="265" r:id="rId4"/>
    <p:sldId id="268" r:id="rId5"/>
    <p:sldId id="277" r:id="rId6"/>
    <p:sldId id="282" r:id="rId7"/>
    <p:sldId id="266" r:id="rId8"/>
    <p:sldId id="283" r:id="rId9"/>
    <p:sldId id="270" r:id="rId10"/>
    <p:sldId id="269" r:id="rId11"/>
    <p:sldId id="272" r:id="rId12"/>
    <p:sldId id="271" r:id="rId13"/>
    <p:sldId id="281" r:id="rId14"/>
    <p:sldId id="267" r:id="rId15"/>
    <p:sldId id="280" r:id="rId16"/>
    <p:sldId id="278" r:id="rId17"/>
    <p:sldId id="273" r:id="rId18"/>
    <p:sldId id="274" r:id="rId19"/>
    <p:sldId id="275" r:id="rId20"/>
    <p:sldId id="279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25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78793-51EC-49E2-BC0F-5CA68A171CC5}" type="datetimeFigureOut">
              <a:rPr lang="en-US" smtClean="0"/>
              <a:t>16-Apr-24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056C3-20AD-4821-8EFE-39D3574116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0501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78793-51EC-49E2-BC0F-5CA68A171CC5}" type="datetimeFigureOut">
              <a:rPr lang="en-US" smtClean="0"/>
              <a:t>16-Apr-24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056C3-20AD-4821-8EFE-39D3574116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8962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78793-51EC-49E2-BC0F-5CA68A171CC5}" type="datetimeFigureOut">
              <a:rPr lang="en-US" smtClean="0"/>
              <a:t>16-Apr-24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056C3-20AD-4821-8EFE-39D3574116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0837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78793-51EC-49E2-BC0F-5CA68A171CC5}" type="datetimeFigureOut">
              <a:rPr lang="en-US" smtClean="0"/>
              <a:t>16-Apr-24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056C3-20AD-4821-8EFE-39D3574116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1498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78793-51EC-49E2-BC0F-5CA68A171CC5}" type="datetimeFigureOut">
              <a:rPr lang="en-US" smtClean="0"/>
              <a:t>16-Apr-24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056C3-20AD-4821-8EFE-39D3574116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501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78793-51EC-49E2-BC0F-5CA68A171CC5}" type="datetimeFigureOut">
              <a:rPr lang="en-US" smtClean="0"/>
              <a:t>16-Apr-24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056C3-20AD-4821-8EFE-39D3574116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4647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78793-51EC-49E2-BC0F-5CA68A171CC5}" type="datetimeFigureOut">
              <a:rPr lang="en-US" smtClean="0"/>
              <a:t>16-Apr-24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056C3-20AD-4821-8EFE-39D3574116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436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78793-51EC-49E2-BC0F-5CA68A171CC5}" type="datetimeFigureOut">
              <a:rPr lang="en-US" smtClean="0"/>
              <a:t>16-Apr-24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056C3-20AD-4821-8EFE-39D3574116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9629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78793-51EC-49E2-BC0F-5CA68A171CC5}" type="datetimeFigureOut">
              <a:rPr lang="en-US" smtClean="0"/>
              <a:t>16-Apr-24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056C3-20AD-4821-8EFE-39D3574116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4305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78793-51EC-49E2-BC0F-5CA68A171CC5}" type="datetimeFigureOut">
              <a:rPr lang="en-US" smtClean="0"/>
              <a:t>16-Apr-24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056C3-20AD-4821-8EFE-39D3574116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1503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78793-51EC-49E2-BC0F-5CA68A171CC5}" type="datetimeFigureOut">
              <a:rPr lang="en-US" smtClean="0"/>
              <a:t>16-Apr-24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056C3-20AD-4821-8EFE-39D3574116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5503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178793-51EC-49E2-BC0F-5CA68A171CC5}" type="datetimeFigureOut">
              <a:rPr lang="en-US" smtClean="0"/>
              <a:t>16-Apr-24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C056C3-20AD-4821-8EFE-39D3574116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9653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Cascading  Style Sheets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73497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Topics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Navigation bar</a:t>
            </a:r>
          </a:p>
          <a:p>
            <a:r>
              <a:rPr lang="en-US" dirty="0"/>
              <a:t>Image gallery</a:t>
            </a:r>
          </a:p>
          <a:p>
            <a:r>
              <a:rPr lang="en-US" dirty="0"/>
              <a:t>Box Model</a:t>
            </a:r>
          </a:p>
          <a:p>
            <a:r>
              <a:rPr lang="en-US" dirty="0"/>
              <a:t>Forms</a:t>
            </a:r>
          </a:p>
          <a:p>
            <a:r>
              <a:rPr lang="en-US" dirty="0"/>
              <a:t>Grid Layout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10367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CSS for </a:t>
            </a:r>
            <a:r>
              <a:rPr lang="en-US" dirty="0"/>
              <a:t>Navigation </a:t>
            </a:r>
            <a:r>
              <a:rPr lang="en-US" dirty="0" smtClean="0"/>
              <a:t>bar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navigation bar is </a:t>
            </a:r>
            <a:r>
              <a:rPr lang="en-US" dirty="0" smtClean="0"/>
              <a:t>a </a:t>
            </a:r>
            <a:r>
              <a:rPr lang="en-US" dirty="0"/>
              <a:t>list of </a:t>
            </a:r>
            <a:r>
              <a:rPr lang="en-US" dirty="0" smtClean="0"/>
              <a:t>links</a:t>
            </a:r>
          </a:p>
          <a:p>
            <a:r>
              <a:rPr lang="en-US" dirty="0" smtClean="0"/>
              <a:t>It can be set as vertical or horizontal list of links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11158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8848" y="753155"/>
            <a:ext cx="4096432" cy="5645628"/>
          </a:xfrm>
          <a:prstGeom prst="rect">
            <a:avLst/>
          </a:prstGeom>
        </p:spPr>
      </p:pic>
      <p:sp>
        <p:nvSpPr>
          <p:cNvPr id="5" name="Title 2"/>
          <p:cNvSpPr txBox="1">
            <a:spLocks/>
          </p:cNvSpPr>
          <p:nvPr/>
        </p:nvSpPr>
        <p:spPr>
          <a:xfrm>
            <a:off x="751252" y="644955"/>
            <a:ext cx="3655495" cy="51582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 smtClean="0">
                <a:latin typeface="Arial Rounded MT Bold" panose="020F0704030504030204" pitchFamily="34" charset="0"/>
              </a:rPr>
              <a:t>CSS Navigation bar</a:t>
            </a:r>
            <a:endParaRPr lang="en-US" sz="2800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60268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016" y="1888286"/>
            <a:ext cx="7991261" cy="3592286"/>
          </a:xfrm>
          <a:prstGeom prst="rect">
            <a:avLst/>
          </a:prstGeom>
        </p:spPr>
      </p:pic>
      <p:sp>
        <p:nvSpPr>
          <p:cNvPr id="5" name="Title 2"/>
          <p:cNvSpPr txBox="1">
            <a:spLocks/>
          </p:cNvSpPr>
          <p:nvPr/>
        </p:nvSpPr>
        <p:spPr>
          <a:xfrm>
            <a:off x="960573" y="633938"/>
            <a:ext cx="2714014" cy="51582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 smtClean="0">
                <a:latin typeface="Arial Rounded MT Bold" panose="020F0704030504030204" pitchFamily="34" charset="0"/>
              </a:rPr>
              <a:t>Navigation bar</a:t>
            </a:r>
            <a:endParaRPr lang="en-US" sz="2800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34735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8816" y="2170323"/>
            <a:ext cx="9403025" cy="2673537"/>
          </a:xfrm>
          <a:prstGeom prst="rect">
            <a:avLst/>
          </a:prstGeom>
          <a:ln w="19050">
            <a:solidFill>
              <a:schemeClr val="tx1"/>
            </a:solidFill>
          </a:ln>
          <a:effectLst/>
        </p:spPr>
      </p:pic>
      <p:sp>
        <p:nvSpPr>
          <p:cNvPr id="5" name="Title 2"/>
          <p:cNvSpPr txBox="1">
            <a:spLocks/>
          </p:cNvSpPr>
          <p:nvPr/>
        </p:nvSpPr>
        <p:spPr>
          <a:xfrm>
            <a:off x="453797" y="237331"/>
            <a:ext cx="2714014" cy="51582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 smtClean="0">
                <a:latin typeface="Arial Rounded MT Bold" panose="020F0704030504030204" pitchFamily="34" charset="0"/>
              </a:rPr>
              <a:t>Navigation bar</a:t>
            </a:r>
            <a:endParaRPr lang="en-US" sz="2800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29790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4912605" cy="703511"/>
          </a:xfrm>
          <a:ln>
            <a:solidFill>
              <a:schemeClr val="tx1"/>
            </a:solidFill>
          </a:ln>
        </p:spPr>
        <p:txBody>
          <a:bodyPr/>
          <a:lstStyle/>
          <a:p>
            <a:r>
              <a:rPr lang="en-US" dirty="0" smtClean="0"/>
              <a:t>Styling </a:t>
            </a:r>
            <a:r>
              <a:rPr lang="en-US" dirty="0"/>
              <a:t>Image </a:t>
            </a:r>
            <a:r>
              <a:rPr lang="en-US" dirty="0" smtClean="0"/>
              <a:t>gallery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429566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&lt;</a:t>
            </a:r>
            <a:r>
              <a:rPr lang="en-US" dirty="0" smtClean="0"/>
              <a:t>style&gt;</a:t>
            </a:r>
          </a:p>
          <a:p>
            <a:pPr marL="0" indent="0">
              <a:buNone/>
            </a:pPr>
            <a:r>
              <a:rPr lang="en-US" dirty="0" err="1"/>
              <a:t>div.gallery</a:t>
            </a:r>
            <a:r>
              <a:rPr lang="en-US" dirty="0"/>
              <a:t> {</a:t>
            </a:r>
          </a:p>
          <a:p>
            <a:pPr marL="0" indent="0">
              <a:buNone/>
            </a:pPr>
            <a:r>
              <a:rPr lang="en-US" dirty="0"/>
              <a:t>  margin: 10px;</a:t>
            </a:r>
          </a:p>
          <a:p>
            <a:pPr marL="0" indent="0">
              <a:buNone/>
            </a:pPr>
            <a:r>
              <a:rPr lang="en-US" dirty="0"/>
              <a:t>  border: 10px solid #ccc;</a:t>
            </a:r>
          </a:p>
          <a:p>
            <a:pPr marL="0" indent="0">
              <a:buNone/>
            </a:pPr>
            <a:r>
              <a:rPr lang="en-US" dirty="0"/>
              <a:t>  float: left;</a:t>
            </a:r>
          </a:p>
          <a:p>
            <a:pPr marL="0" indent="0">
              <a:buNone/>
            </a:pPr>
            <a:r>
              <a:rPr lang="en-US" dirty="0"/>
              <a:t>  width: 180px;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750805" y="1825625"/>
            <a:ext cx="5450595" cy="25461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 smtClean="0"/>
              <a:t>div.gallery</a:t>
            </a:r>
            <a:r>
              <a:rPr lang="en-US" dirty="0" smtClean="0"/>
              <a:t> </a:t>
            </a:r>
            <a:r>
              <a:rPr lang="en-US" dirty="0" err="1"/>
              <a:t>img</a:t>
            </a:r>
            <a:r>
              <a:rPr lang="en-US" dirty="0"/>
              <a:t> {</a:t>
            </a:r>
          </a:p>
          <a:p>
            <a:pPr marL="0" indent="0">
              <a:buNone/>
            </a:pPr>
            <a:r>
              <a:rPr lang="en-US" dirty="0"/>
              <a:t>  width: 100%;</a:t>
            </a:r>
          </a:p>
          <a:p>
            <a:pPr marL="0" indent="0">
              <a:buNone/>
            </a:pPr>
            <a:r>
              <a:rPr lang="en-US" dirty="0"/>
              <a:t>  height:20% 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&lt;/style&gt;</a:t>
            </a:r>
          </a:p>
          <a:p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5750805" y="4441969"/>
            <a:ext cx="627961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&lt;div class="gallery"&gt;</a:t>
            </a:r>
          </a:p>
          <a:p>
            <a:r>
              <a:rPr lang="en-US" sz="2400" dirty="0"/>
              <a:t>  &lt;</a:t>
            </a:r>
            <a:r>
              <a:rPr lang="en-US" sz="2400" dirty="0" err="1"/>
              <a:t>img</a:t>
            </a:r>
            <a:r>
              <a:rPr lang="en-US" sz="2400" dirty="0"/>
              <a:t> </a:t>
            </a:r>
            <a:r>
              <a:rPr lang="en-US" sz="2400" dirty="0" err="1"/>
              <a:t>src</a:t>
            </a:r>
            <a:r>
              <a:rPr lang="en-US" sz="2400" dirty="0"/>
              <a:t>="sc1.jpeg" width="</a:t>
            </a:r>
            <a:r>
              <a:rPr lang="en-US" sz="2400" dirty="0" smtClean="0"/>
              <a:t>600“ height</a:t>
            </a:r>
            <a:r>
              <a:rPr lang="en-US" sz="2400" dirty="0"/>
              <a:t>="400"&gt;</a:t>
            </a:r>
          </a:p>
          <a:p>
            <a:r>
              <a:rPr lang="en-US" sz="2400" dirty="0"/>
              <a:t>&lt;p&gt; add some description here&lt;/p&gt;</a:t>
            </a:r>
          </a:p>
          <a:p>
            <a:r>
              <a:rPr lang="en-US" sz="2400" dirty="0"/>
              <a:t>&lt;/div&gt;</a:t>
            </a:r>
          </a:p>
        </p:txBody>
      </p:sp>
    </p:spTree>
    <p:extLst>
      <p:ext uri="{BB962C8B-B14F-4D97-AF65-F5344CB8AC3E}">
        <p14:creationId xmlns:p14="http://schemas.microsoft.com/office/powerpoint/2010/main" val="23042120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189822" y="497327"/>
            <a:ext cx="4913313" cy="703263"/>
          </a:xfrm>
          <a:ln>
            <a:solidFill>
              <a:schemeClr val="tx1"/>
            </a:solidFill>
          </a:ln>
        </p:spPr>
        <p:txBody>
          <a:bodyPr/>
          <a:lstStyle/>
          <a:p>
            <a:r>
              <a:rPr lang="en-US" dirty="0" smtClean="0"/>
              <a:t>Styling </a:t>
            </a:r>
            <a:r>
              <a:rPr lang="en-US" dirty="0"/>
              <a:t>Image </a:t>
            </a:r>
            <a:r>
              <a:rPr lang="en-US" dirty="0" smtClean="0"/>
              <a:t>gallery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705079" y="1720803"/>
            <a:ext cx="5288097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&lt;body&gt;</a:t>
            </a:r>
          </a:p>
          <a:p>
            <a:r>
              <a:rPr lang="en-US" sz="2400" dirty="0"/>
              <a:t>&lt;h1&gt; Working with image gallery&lt;/h1&gt;</a:t>
            </a:r>
          </a:p>
          <a:p>
            <a:r>
              <a:rPr lang="en-US" sz="2400" dirty="0"/>
              <a:t>&lt;div class="gallery"&gt;</a:t>
            </a:r>
          </a:p>
          <a:p>
            <a:r>
              <a:rPr lang="en-US" sz="2400" dirty="0"/>
              <a:t>  &lt;</a:t>
            </a:r>
            <a:r>
              <a:rPr lang="en-US" sz="2400" dirty="0" err="1"/>
              <a:t>img</a:t>
            </a:r>
            <a:r>
              <a:rPr lang="en-US" sz="2400" dirty="0"/>
              <a:t> </a:t>
            </a:r>
            <a:r>
              <a:rPr lang="en-US" sz="2400" dirty="0" err="1"/>
              <a:t>src</a:t>
            </a:r>
            <a:r>
              <a:rPr lang="en-US" sz="2400" dirty="0"/>
              <a:t>="sc1.jpeg" &gt;</a:t>
            </a:r>
          </a:p>
          <a:p>
            <a:r>
              <a:rPr lang="en-US" sz="2400" dirty="0"/>
              <a:t>&lt;p&gt; add some description here&lt;/p&gt;</a:t>
            </a:r>
          </a:p>
          <a:p>
            <a:r>
              <a:rPr lang="en-US" sz="2400" dirty="0"/>
              <a:t>&lt;/div&gt;</a:t>
            </a:r>
          </a:p>
          <a:p>
            <a:r>
              <a:rPr lang="en-US" sz="2400" dirty="0"/>
              <a:t>&lt;div class="gallery"&gt;</a:t>
            </a:r>
          </a:p>
          <a:p>
            <a:r>
              <a:rPr lang="en-US" sz="2400" dirty="0"/>
              <a:t>  &lt;</a:t>
            </a:r>
            <a:r>
              <a:rPr lang="en-US" sz="2400" dirty="0" err="1"/>
              <a:t>img</a:t>
            </a:r>
            <a:r>
              <a:rPr lang="en-US" sz="2400" dirty="0"/>
              <a:t> </a:t>
            </a:r>
            <a:r>
              <a:rPr lang="en-US" sz="2400" dirty="0" err="1"/>
              <a:t>src</a:t>
            </a:r>
            <a:r>
              <a:rPr lang="en-US" sz="2400" dirty="0"/>
              <a:t>="sc2.jpeg" &gt;</a:t>
            </a:r>
          </a:p>
          <a:p>
            <a:r>
              <a:rPr lang="en-US" sz="2400" dirty="0"/>
              <a:t>&lt;p&gt; add some description here&lt;/p&gt;</a:t>
            </a:r>
          </a:p>
          <a:p>
            <a:r>
              <a:rPr lang="en-US" sz="2400" dirty="0"/>
              <a:t>&lt;/div</a:t>
            </a:r>
            <a:r>
              <a:rPr lang="en-US" sz="2400" dirty="0" smtClean="0"/>
              <a:t>&gt;</a:t>
            </a:r>
            <a:endParaRPr lang="en-US" sz="2400" dirty="0"/>
          </a:p>
        </p:txBody>
      </p:sp>
      <p:sp>
        <p:nvSpPr>
          <p:cNvPr id="8" name="Rectangle 7"/>
          <p:cNvSpPr/>
          <p:nvPr/>
        </p:nvSpPr>
        <p:spPr>
          <a:xfrm>
            <a:off x="6859836" y="1890813"/>
            <a:ext cx="4784993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&lt;div class="gallery"&gt;</a:t>
            </a:r>
          </a:p>
          <a:p>
            <a:r>
              <a:rPr lang="en-US" sz="2000" dirty="0"/>
              <a:t>  &lt;</a:t>
            </a:r>
            <a:r>
              <a:rPr lang="en-US" sz="2000" dirty="0" err="1"/>
              <a:t>img</a:t>
            </a:r>
            <a:r>
              <a:rPr lang="en-US" sz="2000" dirty="0"/>
              <a:t> </a:t>
            </a:r>
            <a:r>
              <a:rPr lang="en-US" sz="2000" dirty="0" err="1"/>
              <a:t>src</a:t>
            </a:r>
            <a:r>
              <a:rPr lang="en-US" sz="2000" dirty="0"/>
              <a:t>="sc3.jpeg" &gt;</a:t>
            </a:r>
          </a:p>
          <a:p>
            <a:r>
              <a:rPr lang="en-US" sz="2000" dirty="0"/>
              <a:t>&lt;p&gt; add some description here&lt;/p&gt;</a:t>
            </a:r>
          </a:p>
          <a:p>
            <a:r>
              <a:rPr lang="en-US" sz="2000" dirty="0"/>
              <a:t>&lt;/div&gt;</a:t>
            </a:r>
          </a:p>
          <a:p>
            <a:r>
              <a:rPr lang="en-US" sz="2000" dirty="0"/>
              <a:t>&lt;div class="gallery"&gt;</a:t>
            </a:r>
          </a:p>
          <a:p>
            <a:r>
              <a:rPr lang="en-US" sz="2000" dirty="0"/>
              <a:t>  &lt;</a:t>
            </a:r>
            <a:r>
              <a:rPr lang="en-US" sz="2000" dirty="0" err="1"/>
              <a:t>img</a:t>
            </a:r>
            <a:r>
              <a:rPr lang="en-US" sz="2000" dirty="0"/>
              <a:t> </a:t>
            </a:r>
            <a:r>
              <a:rPr lang="en-US" sz="2000" dirty="0" err="1"/>
              <a:t>src</a:t>
            </a:r>
            <a:r>
              <a:rPr lang="en-US" sz="2000" dirty="0"/>
              <a:t>="sc4.jpeg" &gt;</a:t>
            </a:r>
          </a:p>
          <a:p>
            <a:r>
              <a:rPr lang="en-US" sz="2000" dirty="0"/>
              <a:t>&lt;p&gt; add some description here&lt;/p&gt;</a:t>
            </a:r>
          </a:p>
          <a:p>
            <a:r>
              <a:rPr lang="en-US" sz="2000" dirty="0"/>
              <a:t>&lt;/div&gt;</a:t>
            </a:r>
          </a:p>
          <a:p>
            <a:r>
              <a:rPr lang="en-US" sz="2000" dirty="0"/>
              <a:t>&lt;div class="gallery"&gt;</a:t>
            </a:r>
          </a:p>
          <a:p>
            <a:r>
              <a:rPr lang="en-US" sz="2000" dirty="0"/>
              <a:t>  &lt;</a:t>
            </a:r>
            <a:r>
              <a:rPr lang="en-US" sz="2000" dirty="0" err="1"/>
              <a:t>img</a:t>
            </a:r>
            <a:r>
              <a:rPr lang="en-US" sz="2000" dirty="0"/>
              <a:t> </a:t>
            </a:r>
            <a:r>
              <a:rPr lang="en-US" sz="2000" dirty="0" err="1"/>
              <a:t>src</a:t>
            </a:r>
            <a:r>
              <a:rPr lang="en-US" sz="2000" dirty="0"/>
              <a:t>="sc5.jpeg" &gt;</a:t>
            </a:r>
          </a:p>
          <a:p>
            <a:r>
              <a:rPr lang="en-US" sz="2000" dirty="0"/>
              <a:t>&lt;p&gt; add some description here&lt;/p&gt;</a:t>
            </a:r>
          </a:p>
          <a:p>
            <a:r>
              <a:rPr lang="en-US" sz="2000" dirty="0"/>
              <a:t>&lt;/div&gt;</a:t>
            </a:r>
          </a:p>
          <a:p>
            <a:r>
              <a:rPr lang="en-US" sz="2000" dirty="0"/>
              <a:t>&lt;/body&gt;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7444513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Styling Image gallery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6" y="1808288"/>
            <a:ext cx="10534650" cy="3333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94493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CSS Box Model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smtClean="0"/>
              <a:t>In </a:t>
            </a:r>
            <a:r>
              <a:rPr lang="en-US" dirty="0"/>
              <a:t>CSS, the term "box </a:t>
            </a:r>
            <a:r>
              <a:rPr lang="en-US" dirty="0" smtClean="0"/>
              <a:t>model“ refers to </a:t>
            </a:r>
            <a:r>
              <a:rPr lang="en-US" dirty="0"/>
              <a:t>design and layout.</a:t>
            </a:r>
          </a:p>
          <a:p>
            <a:r>
              <a:rPr lang="en-US" dirty="0" smtClean="0"/>
              <a:t>The </a:t>
            </a:r>
            <a:r>
              <a:rPr lang="en-US" dirty="0"/>
              <a:t>CSS box model is essentially a box that wraps around every HTML element. </a:t>
            </a:r>
            <a:endParaRPr lang="en-US" dirty="0" smtClean="0"/>
          </a:p>
          <a:p>
            <a:endParaRPr lang="en-US" dirty="0"/>
          </a:p>
          <a:p>
            <a:r>
              <a:rPr lang="en-US" dirty="0" smtClean="0"/>
              <a:t>It </a:t>
            </a:r>
            <a:r>
              <a:rPr lang="en-US" dirty="0"/>
              <a:t>consists of: content, padding, borders and margins. 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914400"/>
            <a:ext cx="5912260" cy="4811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84054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CSS Box </a:t>
            </a:r>
            <a:r>
              <a:rPr lang="en-US" dirty="0" smtClean="0"/>
              <a:t>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Content</a:t>
            </a:r>
            <a:r>
              <a:rPr lang="en-US" dirty="0"/>
              <a:t> - The content of the box, where text and images appear</a:t>
            </a:r>
          </a:p>
          <a:p>
            <a:r>
              <a:rPr lang="en-US" b="1" dirty="0"/>
              <a:t>Padding</a:t>
            </a:r>
            <a:r>
              <a:rPr lang="en-US" dirty="0"/>
              <a:t> - Clears an area around the content. The padding is transparent</a:t>
            </a:r>
          </a:p>
          <a:p>
            <a:r>
              <a:rPr lang="en-US" b="1" dirty="0"/>
              <a:t>Border</a:t>
            </a:r>
            <a:r>
              <a:rPr lang="en-US" dirty="0"/>
              <a:t> - A border that goes around the padding and content</a:t>
            </a:r>
          </a:p>
          <a:p>
            <a:r>
              <a:rPr lang="en-US" b="1" dirty="0"/>
              <a:t>Margin</a:t>
            </a:r>
            <a:r>
              <a:rPr lang="en-US" dirty="0"/>
              <a:t> - Clears an area outside the border. The margin is transparent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94899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82242" y="1848833"/>
            <a:ext cx="3672814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&lt;html&gt;</a:t>
            </a:r>
          </a:p>
          <a:p>
            <a:r>
              <a:rPr lang="en-US" sz="2000" dirty="0"/>
              <a:t>&lt;head&gt;</a:t>
            </a:r>
          </a:p>
          <a:p>
            <a:r>
              <a:rPr lang="en-US" sz="2000" dirty="0"/>
              <a:t>&lt;style&gt;</a:t>
            </a:r>
          </a:p>
          <a:p>
            <a:r>
              <a:rPr lang="en-US" sz="2000" dirty="0"/>
              <a:t>div {</a:t>
            </a:r>
          </a:p>
          <a:p>
            <a:r>
              <a:rPr lang="en-US" sz="2000" dirty="0"/>
              <a:t>  width: 300px;</a:t>
            </a:r>
          </a:p>
          <a:p>
            <a:r>
              <a:rPr lang="en-US" sz="2000" dirty="0"/>
              <a:t>  border: 20px solid blue;</a:t>
            </a:r>
          </a:p>
          <a:p>
            <a:r>
              <a:rPr lang="en-US" sz="2000" dirty="0"/>
              <a:t>  padding: 25px;</a:t>
            </a:r>
          </a:p>
          <a:p>
            <a:r>
              <a:rPr lang="en-US" sz="2000" dirty="0"/>
              <a:t>  margin: 20px;</a:t>
            </a:r>
          </a:p>
          <a:p>
            <a:r>
              <a:rPr lang="en-US" sz="2000" dirty="0"/>
              <a:t>background-color: </a:t>
            </a:r>
            <a:r>
              <a:rPr lang="en-US" sz="2000" dirty="0" err="1"/>
              <a:t>lightgreen</a:t>
            </a:r>
            <a:r>
              <a:rPr lang="en-US" sz="2000" dirty="0"/>
              <a:t>;</a:t>
            </a:r>
          </a:p>
          <a:p>
            <a:r>
              <a:rPr lang="en-US" sz="2000" dirty="0"/>
              <a:t>}</a:t>
            </a:r>
          </a:p>
          <a:p>
            <a:r>
              <a:rPr lang="en-US" sz="2000" dirty="0"/>
              <a:t>&lt;/style&gt;&lt;/head</a:t>
            </a:r>
            <a:r>
              <a:rPr lang="en-US" sz="2000" dirty="0" smtClean="0"/>
              <a:t>&gt;</a:t>
            </a:r>
            <a:endParaRPr lang="en-US" sz="2000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The CSS Box Model</a:t>
            </a:r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5020020" y="2081254"/>
            <a:ext cx="6096000" cy="313932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&lt;body&gt;</a:t>
            </a:r>
          </a:p>
          <a:p>
            <a:r>
              <a:rPr lang="en-US" dirty="0"/>
              <a:t>&lt;h1&gt; Working with box model&lt;/h1</a:t>
            </a:r>
            <a:r>
              <a:rPr lang="en-US" dirty="0" smtClean="0"/>
              <a:t>&gt;</a:t>
            </a:r>
          </a:p>
          <a:p>
            <a:endParaRPr lang="en-US" dirty="0"/>
          </a:p>
          <a:p>
            <a:r>
              <a:rPr lang="en-US" dirty="0"/>
              <a:t>&lt;div&gt; Pakistan, officially the Islamic Republic of Pakistan,</a:t>
            </a:r>
          </a:p>
          <a:p>
            <a:r>
              <a:rPr lang="en-US" dirty="0"/>
              <a:t>is a country in South Asia. It is the fifth-most populous country, </a:t>
            </a:r>
          </a:p>
          <a:p>
            <a:r>
              <a:rPr lang="en-US" dirty="0"/>
              <a:t>with a population of over 241.5 million, having the </a:t>
            </a:r>
          </a:p>
          <a:p>
            <a:r>
              <a:rPr lang="en-US" dirty="0"/>
              <a:t>second-largest Muslim population as of 2023. </a:t>
            </a:r>
          </a:p>
          <a:p>
            <a:r>
              <a:rPr lang="en-US" dirty="0"/>
              <a:t>Islamabad is the nation's capital, while Karachi is its </a:t>
            </a:r>
          </a:p>
          <a:p>
            <a:r>
              <a:rPr lang="en-US" dirty="0"/>
              <a:t>largest city and financial </a:t>
            </a:r>
            <a:r>
              <a:rPr lang="en-US" dirty="0" err="1"/>
              <a:t>centre</a:t>
            </a:r>
            <a:r>
              <a:rPr lang="en-US" dirty="0"/>
              <a:t>.</a:t>
            </a:r>
          </a:p>
          <a:p>
            <a:r>
              <a:rPr lang="en-US" dirty="0"/>
              <a:t>&lt;/div</a:t>
            </a:r>
            <a:r>
              <a:rPr lang="en-US" dirty="0" smtClean="0"/>
              <a:t>&gt;</a:t>
            </a:r>
          </a:p>
          <a:p>
            <a:r>
              <a:rPr lang="en-US" dirty="0" smtClean="0"/>
              <a:t> </a:t>
            </a:r>
            <a:r>
              <a:rPr lang="en-US" dirty="0"/>
              <a:t>&lt;/body&gt; &lt;/html&gt;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34294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7599" y="1690688"/>
            <a:ext cx="6163832" cy="4220412"/>
          </a:xfrm>
          <a:prstGeom prst="rect">
            <a:avLst/>
          </a:prstGeom>
        </p:spPr>
      </p:pic>
      <p:sp>
        <p:nvSpPr>
          <p:cNvPr id="4" name="Title 1"/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The CSS Box Model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08337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867316" y="417854"/>
            <a:ext cx="3603171" cy="549275"/>
          </a:xfrm>
        </p:spPr>
        <p:txBody>
          <a:bodyPr>
            <a:normAutofit fontScale="90000"/>
          </a:bodyPr>
          <a:lstStyle/>
          <a:p>
            <a:r>
              <a:rPr lang="en-US" sz="4900" dirty="0"/>
              <a:t>Styling</a:t>
            </a:r>
            <a:r>
              <a:rPr lang="en-US" dirty="0"/>
              <a:t> </a:t>
            </a:r>
            <a:r>
              <a:rPr lang="en-US" sz="4900" dirty="0" smtClean="0"/>
              <a:t>Forms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690390" y="1552457"/>
            <a:ext cx="5104482" cy="39395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/>
              <a:t>To style</a:t>
            </a:r>
            <a:r>
              <a:rPr lang="en-US" sz="2400" dirty="0"/>
              <a:t> HTML </a:t>
            </a:r>
            <a:r>
              <a:rPr lang="en-US" sz="2400" b="1" dirty="0"/>
              <a:t>forms</a:t>
            </a:r>
            <a:r>
              <a:rPr lang="en-US" sz="2400" dirty="0"/>
              <a:t> with </a:t>
            </a:r>
            <a:r>
              <a:rPr lang="en-US" sz="2400" b="1" dirty="0"/>
              <a:t>CSS</a:t>
            </a:r>
            <a:r>
              <a:rPr lang="en-US" sz="2400" dirty="0"/>
              <a:t> selectors and techniques to enhance user experience and </a:t>
            </a:r>
            <a:r>
              <a:rPr lang="en-US" sz="2400" b="1" dirty="0"/>
              <a:t>form</a:t>
            </a:r>
            <a:r>
              <a:rPr lang="en-US" sz="2400" dirty="0"/>
              <a:t> functionality</a:t>
            </a:r>
            <a:r>
              <a:rPr lang="en-US" sz="2400" dirty="0" smtClean="0"/>
              <a:t>. </a:t>
            </a:r>
          </a:p>
          <a:p>
            <a:endParaRPr lang="en-US" dirty="0" smtClean="0"/>
          </a:p>
          <a:p>
            <a:r>
              <a:rPr lang="en-US" sz="2000" dirty="0" smtClean="0">
                <a:latin typeface="arial" panose="020B0604020202020204" pitchFamily="34" charset="0"/>
              </a:rPr>
              <a:t>It includes styling </a:t>
            </a:r>
          </a:p>
          <a:p>
            <a:endParaRPr lang="en-US" sz="2000" dirty="0" smtClean="0">
              <a:latin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arial" panose="020B0604020202020204" pitchFamily="34" charset="0"/>
              </a:rPr>
              <a:t>Input</a:t>
            </a:r>
            <a:r>
              <a:rPr lang="en-US" sz="2000" dirty="0">
                <a:latin typeface="arial" panose="020B0604020202020204" pitchFamily="34" charset="0"/>
              </a:rPr>
              <a:t> </a:t>
            </a:r>
            <a:r>
              <a:rPr lang="en-US" sz="2000" dirty="0" smtClean="0">
                <a:latin typeface="arial" panose="020B0604020202020204" pitchFamily="34" charset="0"/>
              </a:rPr>
              <a:t>Fields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arial" panose="020B0604020202020204" pitchFamily="34" charset="0"/>
              </a:rPr>
              <a:t>Padded Inputs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arial" panose="020B0604020202020204" pitchFamily="34" charset="0"/>
              </a:rPr>
              <a:t>Bordered </a:t>
            </a:r>
            <a:r>
              <a:rPr lang="en-US" sz="2000" dirty="0">
                <a:latin typeface="arial" panose="020B0604020202020204" pitchFamily="34" charset="0"/>
              </a:rPr>
              <a:t>Inputs </a:t>
            </a:r>
            <a:endParaRPr lang="en-US" sz="2000" dirty="0" smtClean="0">
              <a:latin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arial" panose="020B0604020202020204" pitchFamily="34" charset="0"/>
              </a:rPr>
              <a:t>Colored </a:t>
            </a:r>
            <a:r>
              <a:rPr lang="en-US" sz="2000" dirty="0">
                <a:latin typeface="arial" panose="020B0604020202020204" pitchFamily="34" charset="0"/>
              </a:rPr>
              <a:t>Inputs </a:t>
            </a:r>
            <a:endParaRPr lang="en-US" sz="2000" dirty="0" smtClean="0">
              <a:latin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arial" panose="020B0604020202020204" pitchFamily="34" charset="0"/>
              </a:rPr>
              <a:t>Focused Inputs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arial" panose="020B0604020202020204" pitchFamily="34" charset="0"/>
              </a:rPr>
              <a:t>Input</a:t>
            </a:r>
            <a:r>
              <a:rPr lang="en-US" sz="2000" dirty="0">
                <a:latin typeface="arial" panose="020B0604020202020204" pitchFamily="34" charset="0"/>
              </a:rPr>
              <a:t> with </a:t>
            </a:r>
            <a:r>
              <a:rPr lang="en-US" sz="2000" dirty="0" smtClean="0">
                <a:latin typeface="arial" panose="020B0604020202020204" pitchFamily="34" charset="0"/>
              </a:rPr>
              <a:t>icon/image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4401324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867316" y="417854"/>
            <a:ext cx="3603171" cy="549275"/>
          </a:xfrm>
        </p:spPr>
        <p:txBody>
          <a:bodyPr>
            <a:normAutofit fontScale="90000"/>
          </a:bodyPr>
          <a:lstStyle/>
          <a:p>
            <a:r>
              <a:rPr lang="en-US" sz="4900" dirty="0"/>
              <a:t>Styling</a:t>
            </a:r>
            <a:r>
              <a:rPr lang="en-US" dirty="0"/>
              <a:t> </a:t>
            </a:r>
            <a:r>
              <a:rPr lang="en-US" sz="4900" dirty="0" smtClean="0"/>
              <a:t>Forms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745737" y="1752393"/>
            <a:ext cx="5115236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&lt;style&gt;</a:t>
            </a:r>
          </a:p>
          <a:p>
            <a:r>
              <a:rPr lang="en-US" sz="2400" dirty="0"/>
              <a:t>input[type=text], select {</a:t>
            </a:r>
          </a:p>
          <a:p>
            <a:r>
              <a:rPr lang="en-US" sz="2400" dirty="0"/>
              <a:t>  width: 50%;</a:t>
            </a:r>
          </a:p>
          <a:p>
            <a:r>
              <a:rPr lang="en-US" sz="2400" dirty="0"/>
              <a:t>  padding: 12px 20px;</a:t>
            </a:r>
          </a:p>
          <a:p>
            <a:r>
              <a:rPr lang="en-US" sz="2400" dirty="0"/>
              <a:t>  margin: 8px 10;</a:t>
            </a:r>
          </a:p>
          <a:p>
            <a:r>
              <a:rPr lang="en-US" sz="2400" dirty="0"/>
              <a:t>  border: 10px solid #DDAA00;</a:t>
            </a:r>
          </a:p>
          <a:p>
            <a:r>
              <a:rPr lang="en-US" sz="2400" dirty="0"/>
              <a:t> </a:t>
            </a:r>
            <a:r>
              <a:rPr lang="en-US" sz="2400" dirty="0" smtClean="0"/>
              <a:t>}</a:t>
            </a:r>
          </a:p>
          <a:p>
            <a:r>
              <a:rPr lang="en-US" sz="2400" dirty="0"/>
              <a:t>input[type=text]:focus {</a:t>
            </a:r>
          </a:p>
          <a:p>
            <a:r>
              <a:rPr lang="en-US" sz="2400" dirty="0"/>
              <a:t>   border:5px solid blue;</a:t>
            </a:r>
          </a:p>
          <a:p>
            <a:r>
              <a:rPr lang="en-US" sz="2400" dirty="0" smtClean="0"/>
              <a:t>}</a:t>
            </a:r>
            <a:endParaRPr lang="en-US" sz="2400" dirty="0"/>
          </a:p>
        </p:txBody>
      </p:sp>
      <p:sp>
        <p:nvSpPr>
          <p:cNvPr id="5" name="Rectangle 4"/>
          <p:cNvSpPr/>
          <p:nvPr/>
        </p:nvSpPr>
        <p:spPr>
          <a:xfrm>
            <a:off x="6096000" y="2358254"/>
            <a:ext cx="4909851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input[type=submit], [type=reset] {</a:t>
            </a:r>
          </a:p>
          <a:p>
            <a:r>
              <a:rPr lang="en-US" sz="2400" dirty="0"/>
              <a:t>  width: 30%;</a:t>
            </a:r>
          </a:p>
          <a:p>
            <a:r>
              <a:rPr lang="en-US" sz="2400" dirty="0"/>
              <a:t>  background-color: #DDAA00;</a:t>
            </a:r>
          </a:p>
          <a:p>
            <a:r>
              <a:rPr lang="en-US" sz="2400" dirty="0"/>
              <a:t>  color: white;</a:t>
            </a:r>
          </a:p>
          <a:p>
            <a:r>
              <a:rPr lang="en-US" sz="2400" dirty="0"/>
              <a:t>  padding: 14px 20px;</a:t>
            </a:r>
          </a:p>
          <a:p>
            <a:r>
              <a:rPr lang="en-US" sz="2400" dirty="0"/>
              <a:t>  margin: 8px 0;</a:t>
            </a:r>
          </a:p>
          <a:p>
            <a:r>
              <a:rPr lang="en-US" sz="2400" dirty="0"/>
              <a:t>  </a:t>
            </a:r>
            <a:r>
              <a:rPr lang="en-US" sz="2400" dirty="0" smtClean="0"/>
              <a:t>}</a:t>
            </a:r>
          </a:p>
          <a:p>
            <a:r>
              <a:rPr lang="en-US" sz="2400" dirty="0"/>
              <a:t>&lt;/style&gt;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4110184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993571" y="65314"/>
            <a:ext cx="3603171" cy="549275"/>
          </a:xfrm>
        </p:spPr>
        <p:txBody>
          <a:bodyPr>
            <a:normAutofit fontScale="90000"/>
          </a:bodyPr>
          <a:lstStyle/>
          <a:p>
            <a:r>
              <a:rPr lang="en-US" dirty="0"/>
              <a:t>Styling </a:t>
            </a:r>
            <a:r>
              <a:rPr lang="en-US" dirty="0" smtClean="0"/>
              <a:t>Forms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6495622" y="1868160"/>
            <a:ext cx="5094514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/>
              <a:t>&lt;</a:t>
            </a:r>
            <a:r>
              <a:rPr lang="en-US" sz="2000" dirty="0"/>
              <a:t>label for="country"&gt;Country&lt;/label&gt;</a:t>
            </a:r>
          </a:p>
          <a:p>
            <a:r>
              <a:rPr lang="en-US" sz="2000" dirty="0"/>
              <a:t>    &lt;select id="country" name="country"&gt;&lt;</a:t>
            </a:r>
            <a:r>
              <a:rPr lang="en-US" sz="2000" dirty="0" err="1"/>
              <a:t>br</a:t>
            </a:r>
            <a:r>
              <a:rPr lang="en-US" sz="2000" dirty="0"/>
              <a:t>&gt;</a:t>
            </a:r>
          </a:p>
          <a:p>
            <a:r>
              <a:rPr lang="en-US" sz="2000" dirty="0"/>
              <a:t>      &lt;option value="</a:t>
            </a:r>
            <a:r>
              <a:rPr lang="en-US" sz="2000" dirty="0" err="1" smtClean="0"/>
              <a:t>pakistan</a:t>
            </a:r>
            <a:r>
              <a:rPr lang="en-US" sz="2000" dirty="0"/>
              <a:t>"&gt;Pakistan&lt;/option&gt;      </a:t>
            </a:r>
          </a:p>
          <a:p>
            <a:r>
              <a:rPr lang="en-US" sz="2000" dirty="0"/>
              <a:t>      &lt;option value="</a:t>
            </a:r>
            <a:r>
              <a:rPr lang="en-US" sz="2000" dirty="0" err="1"/>
              <a:t>australia</a:t>
            </a:r>
            <a:r>
              <a:rPr lang="en-US" sz="2000" dirty="0"/>
              <a:t>"&gt;Australia&lt;/option&gt;</a:t>
            </a:r>
          </a:p>
          <a:p>
            <a:r>
              <a:rPr lang="en-US" sz="2000" dirty="0"/>
              <a:t>      &lt;option value="</a:t>
            </a:r>
            <a:r>
              <a:rPr lang="en-US" sz="2000" dirty="0" err="1"/>
              <a:t>canada</a:t>
            </a:r>
            <a:r>
              <a:rPr lang="en-US" sz="2000" dirty="0"/>
              <a:t>"&gt;Canada&lt;/option&gt;</a:t>
            </a:r>
          </a:p>
          <a:p>
            <a:r>
              <a:rPr lang="en-US" sz="2000" dirty="0"/>
              <a:t>      &lt;option value="</a:t>
            </a:r>
            <a:r>
              <a:rPr lang="en-US" sz="2000" dirty="0" err="1"/>
              <a:t>usa</a:t>
            </a:r>
            <a:r>
              <a:rPr lang="en-US" sz="2000" dirty="0"/>
              <a:t>"&gt;USA&lt;/option&gt;</a:t>
            </a:r>
          </a:p>
          <a:p>
            <a:r>
              <a:rPr lang="en-US" sz="2000" dirty="0"/>
              <a:t>    &lt;/select&gt;&lt;</a:t>
            </a:r>
            <a:r>
              <a:rPr lang="en-US" sz="2000" dirty="0" err="1"/>
              <a:t>br</a:t>
            </a:r>
            <a:r>
              <a:rPr lang="en-US" sz="2000" dirty="0"/>
              <a:t>&gt;</a:t>
            </a:r>
          </a:p>
          <a:p>
            <a:r>
              <a:rPr lang="en-US" sz="2000" dirty="0"/>
              <a:t>    &lt;input type="submit" value="Submit"&gt;</a:t>
            </a:r>
          </a:p>
          <a:p>
            <a:r>
              <a:rPr lang="en-US" sz="2000" dirty="0"/>
              <a:t>    &lt;input type="reset" value="Reset"&gt;</a:t>
            </a:r>
          </a:p>
          <a:p>
            <a:r>
              <a:rPr lang="en-US" sz="2000" dirty="0"/>
              <a:t>  &lt;/form</a:t>
            </a:r>
            <a:r>
              <a:rPr lang="en-US" sz="2000" dirty="0" smtClean="0"/>
              <a:t>&gt;&lt;/</a:t>
            </a:r>
            <a:r>
              <a:rPr lang="en-US" sz="2000" dirty="0"/>
              <a:t>div</a:t>
            </a:r>
            <a:r>
              <a:rPr lang="en-US" sz="2000" dirty="0" smtClean="0"/>
              <a:t>&gt;&lt;/</a:t>
            </a:r>
            <a:r>
              <a:rPr lang="en-US" sz="2000" dirty="0"/>
              <a:t>body&gt;</a:t>
            </a:r>
          </a:p>
        </p:txBody>
      </p:sp>
      <p:sp>
        <p:nvSpPr>
          <p:cNvPr id="3" name="Rectangle 2"/>
          <p:cNvSpPr/>
          <p:nvPr/>
        </p:nvSpPr>
        <p:spPr>
          <a:xfrm>
            <a:off x="664027" y="1486344"/>
            <a:ext cx="5207963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&lt;body&gt;</a:t>
            </a:r>
          </a:p>
          <a:p>
            <a:r>
              <a:rPr lang="en-US" sz="2000" dirty="0"/>
              <a:t>&lt;h3&gt;Using CSS to style an HTML Form&lt;/h3</a:t>
            </a:r>
            <a:r>
              <a:rPr lang="en-US" sz="2000" dirty="0" smtClean="0"/>
              <a:t>&gt;</a:t>
            </a:r>
          </a:p>
          <a:p>
            <a:endParaRPr lang="en-US" sz="2000" dirty="0"/>
          </a:p>
          <a:p>
            <a:r>
              <a:rPr lang="en-US" sz="2000" dirty="0"/>
              <a:t>&lt;div&gt;  &lt;form &gt;</a:t>
            </a:r>
          </a:p>
          <a:p>
            <a:r>
              <a:rPr lang="en-US" sz="2000" dirty="0"/>
              <a:t>    &lt;label for="</a:t>
            </a:r>
            <a:r>
              <a:rPr lang="en-US" sz="2000" dirty="0" err="1"/>
              <a:t>fname</a:t>
            </a:r>
            <a:r>
              <a:rPr lang="en-US" sz="2000" dirty="0"/>
              <a:t>"&gt;First Name&lt;/label&gt;</a:t>
            </a:r>
          </a:p>
          <a:p>
            <a:r>
              <a:rPr lang="en-US" sz="2000" dirty="0"/>
              <a:t>    &lt;input type="text" id="</a:t>
            </a:r>
            <a:r>
              <a:rPr lang="en-US" sz="2000" dirty="0" err="1"/>
              <a:t>fname</a:t>
            </a:r>
            <a:r>
              <a:rPr lang="en-US" sz="2000" dirty="0"/>
              <a:t>" name="</a:t>
            </a:r>
            <a:r>
              <a:rPr lang="en-US" sz="2000" dirty="0" err="1"/>
              <a:t>firstname</a:t>
            </a:r>
            <a:r>
              <a:rPr lang="en-US" sz="2000" dirty="0"/>
              <a:t>"       placeholder="Your name.."&gt;&lt;</a:t>
            </a:r>
            <a:r>
              <a:rPr lang="en-US" sz="2000" dirty="0" err="1"/>
              <a:t>br</a:t>
            </a:r>
            <a:r>
              <a:rPr lang="en-US" sz="2000" dirty="0" smtClean="0"/>
              <a:t>&gt;</a:t>
            </a:r>
          </a:p>
          <a:p>
            <a:endParaRPr lang="en-US" sz="2000" dirty="0"/>
          </a:p>
          <a:p>
            <a:r>
              <a:rPr lang="en-US" sz="2000" dirty="0"/>
              <a:t>    &lt;label for="</a:t>
            </a:r>
            <a:r>
              <a:rPr lang="en-US" sz="2000" dirty="0" err="1"/>
              <a:t>lname</a:t>
            </a:r>
            <a:r>
              <a:rPr lang="en-US" sz="2000" dirty="0"/>
              <a:t>"&gt;Last Name&lt;/label&gt;</a:t>
            </a:r>
          </a:p>
          <a:p>
            <a:r>
              <a:rPr lang="en-US" sz="2000" dirty="0"/>
              <a:t>    &lt;input type="text" id="</a:t>
            </a:r>
            <a:r>
              <a:rPr lang="en-US" sz="2000" dirty="0" err="1"/>
              <a:t>lname</a:t>
            </a:r>
            <a:r>
              <a:rPr lang="en-US" sz="2000" dirty="0"/>
              <a:t>" name="</a:t>
            </a:r>
            <a:r>
              <a:rPr lang="en-US" sz="2000" dirty="0" err="1"/>
              <a:t>lastname</a:t>
            </a:r>
            <a:r>
              <a:rPr lang="en-US" sz="2000" dirty="0"/>
              <a:t>" placeholder="Your last name.."&gt;&lt;</a:t>
            </a:r>
            <a:r>
              <a:rPr lang="en-US" sz="2000" dirty="0" err="1"/>
              <a:t>br</a:t>
            </a:r>
            <a:r>
              <a:rPr lang="en-US" sz="2000" dirty="0"/>
              <a:t>&gt;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1114682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585389" y="261648"/>
            <a:ext cx="3257943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/>
              <a:t>Styling Forms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498" y="1543049"/>
            <a:ext cx="11220002" cy="4683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79043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Grid </a:t>
            </a:r>
            <a:r>
              <a:rPr lang="en-US" dirty="0" smtClean="0"/>
              <a:t>Layout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</a:t>
            </a:r>
            <a:r>
              <a:rPr lang="en-US" dirty="0"/>
              <a:t>CSS Grid Layout Module offers a grid-based layout system, with rows and columns, making it easier to design web pages without having to use floats and positioning.</a:t>
            </a:r>
          </a:p>
          <a:p>
            <a:endParaRPr lang="en-US" dirty="0" smtClean="0"/>
          </a:p>
          <a:p>
            <a:r>
              <a:rPr lang="en-US" dirty="0"/>
              <a:t>A grid layout consists of a parent element, with one or more child elements.</a:t>
            </a:r>
          </a:p>
        </p:txBody>
      </p:sp>
    </p:spTree>
    <p:extLst>
      <p:ext uri="{BB962C8B-B14F-4D97-AF65-F5344CB8AC3E}">
        <p14:creationId xmlns:p14="http://schemas.microsoft.com/office/powerpoint/2010/main" val="30961251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18646"/>
          </a:xfrm>
        </p:spPr>
        <p:txBody>
          <a:bodyPr>
            <a:normAutofit fontScale="90000"/>
          </a:bodyPr>
          <a:lstStyle/>
          <a:p>
            <a:r>
              <a:rPr lang="en-US" dirty="0"/>
              <a:t>Grid Layout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783772"/>
            <a:ext cx="10515600" cy="5393191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&lt;style&gt;</a:t>
            </a:r>
          </a:p>
          <a:p>
            <a:r>
              <a:rPr lang="en-US" dirty="0"/>
              <a:t>.grid-container {</a:t>
            </a:r>
          </a:p>
          <a:p>
            <a:r>
              <a:rPr lang="en-US" dirty="0"/>
              <a:t>  display: grid;</a:t>
            </a:r>
          </a:p>
          <a:p>
            <a:r>
              <a:rPr lang="en-US" dirty="0"/>
              <a:t>  grid-template-columns: auto </a:t>
            </a:r>
            <a:r>
              <a:rPr lang="en-US" dirty="0" err="1"/>
              <a:t>auto</a:t>
            </a:r>
            <a:r>
              <a:rPr lang="en-US" dirty="0" smtClean="0"/>
              <a:t>;</a:t>
            </a:r>
            <a:endParaRPr lang="en-US" dirty="0"/>
          </a:p>
          <a:p>
            <a:r>
              <a:rPr lang="en-US" dirty="0"/>
              <a:t>  background-color: #0096F3;</a:t>
            </a:r>
          </a:p>
          <a:p>
            <a:r>
              <a:rPr lang="en-US" dirty="0"/>
              <a:t>  padding: 10px;</a:t>
            </a:r>
          </a:p>
          <a:p>
            <a:r>
              <a:rPr lang="en-US" dirty="0"/>
              <a:t>}</a:t>
            </a:r>
          </a:p>
          <a:p>
            <a:r>
              <a:rPr lang="en-US" dirty="0"/>
              <a:t>.grid-item {</a:t>
            </a:r>
          </a:p>
          <a:p>
            <a:r>
              <a:rPr lang="en-US" dirty="0"/>
              <a:t>  background-color: </a:t>
            </a:r>
            <a:r>
              <a:rPr lang="en-US" dirty="0" err="1"/>
              <a:t>rgb</a:t>
            </a:r>
            <a:r>
              <a:rPr lang="en-US" dirty="0"/>
              <a:t>(205, 00, 00);</a:t>
            </a:r>
          </a:p>
          <a:p>
            <a:r>
              <a:rPr lang="en-US" dirty="0"/>
              <a:t>  border: 1px solid </a:t>
            </a:r>
            <a:r>
              <a:rPr lang="en-US" dirty="0" err="1"/>
              <a:t>rgb</a:t>
            </a:r>
            <a:r>
              <a:rPr lang="en-US" dirty="0"/>
              <a:t>(0, 0, 150);</a:t>
            </a:r>
          </a:p>
          <a:p>
            <a:r>
              <a:rPr lang="en-US" dirty="0"/>
              <a:t>  padding: 20px;</a:t>
            </a:r>
          </a:p>
          <a:p>
            <a:r>
              <a:rPr lang="en-US" dirty="0"/>
              <a:t>  font-size: 30px;</a:t>
            </a:r>
          </a:p>
          <a:p>
            <a:r>
              <a:rPr lang="en-US" dirty="0"/>
              <a:t>  text-align: center;</a:t>
            </a:r>
          </a:p>
          <a:p>
            <a:r>
              <a:rPr lang="en-US" dirty="0"/>
              <a:t>}</a:t>
            </a:r>
          </a:p>
          <a:p>
            <a:r>
              <a:rPr lang="en-US" dirty="0"/>
              <a:t>&lt;/style&gt;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00" y="918657"/>
            <a:ext cx="6096000" cy="258532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&lt;body&gt;</a:t>
            </a:r>
          </a:p>
          <a:p>
            <a:r>
              <a:rPr lang="en-US" dirty="0" smtClean="0"/>
              <a:t>&lt;</a:t>
            </a:r>
            <a:r>
              <a:rPr lang="en-US" dirty="0"/>
              <a:t>h1&gt;Working with grid and grid container&lt;/h1</a:t>
            </a:r>
            <a:r>
              <a:rPr lang="en-US" dirty="0" smtClean="0"/>
              <a:t>&gt;</a:t>
            </a:r>
          </a:p>
          <a:p>
            <a:endParaRPr lang="en-US" dirty="0" smtClean="0"/>
          </a:p>
          <a:p>
            <a:r>
              <a:rPr lang="en-US" dirty="0" smtClean="0"/>
              <a:t>&lt;</a:t>
            </a:r>
            <a:r>
              <a:rPr lang="en-US" dirty="0"/>
              <a:t>div class="grid-container"&gt;</a:t>
            </a:r>
          </a:p>
          <a:p>
            <a:r>
              <a:rPr lang="en-US" dirty="0"/>
              <a:t>  &lt;div class="grid-item"&gt;First&lt;/div&gt;</a:t>
            </a:r>
          </a:p>
          <a:p>
            <a:r>
              <a:rPr lang="en-US" dirty="0"/>
              <a:t>  &lt;div class="grid-item"&gt;Second&lt;/div&gt;</a:t>
            </a:r>
          </a:p>
          <a:p>
            <a:r>
              <a:rPr lang="en-US" dirty="0"/>
              <a:t>  &lt;div class="grid-item"&gt;Third&lt;/div&gt;  </a:t>
            </a:r>
          </a:p>
          <a:p>
            <a:r>
              <a:rPr lang="en-US" dirty="0"/>
              <a:t>  &lt;div class="grid-item"&gt;Fourth&lt;/div&gt;</a:t>
            </a:r>
          </a:p>
          <a:p>
            <a:r>
              <a:rPr lang="en-US" dirty="0"/>
              <a:t>&lt;/div&gt;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3787741"/>
            <a:ext cx="5076825" cy="2943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32384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1079653"/>
            <a:ext cx="10515600" cy="2522863"/>
          </a:xfrm>
        </p:spPr>
        <p:txBody>
          <a:bodyPr>
            <a:normAutofit lnSpcReduction="10000"/>
          </a:bodyPr>
          <a:lstStyle/>
          <a:p>
            <a:r>
              <a:rPr lang="en-US" sz="1800" dirty="0"/>
              <a:t>&lt;div class="grid-container"&gt;</a:t>
            </a:r>
          </a:p>
          <a:p>
            <a:r>
              <a:rPr lang="en-US" sz="1800" dirty="0"/>
              <a:t>  &lt;div class="grid-item"&gt;First&lt;/div&gt;</a:t>
            </a:r>
          </a:p>
          <a:p>
            <a:r>
              <a:rPr lang="en-US" sz="1800" dirty="0"/>
              <a:t>  &lt;div class="grid-item"&gt;Second&lt;/div&gt;</a:t>
            </a:r>
          </a:p>
          <a:p>
            <a:r>
              <a:rPr lang="en-US" sz="1800" dirty="0"/>
              <a:t>  &lt;div class="grid-item"&gt;Third&lt;/div&gt;  </a:t>
            </a:r>
          </a:p>
          <a:p>
            <a:r>
              <a:rPr lang="en-US" sz="1800" dirty="0"/>
              <a:t>  &lt;div class="grid-item"&gt;Fourth&lt;/div&gt;</a:t>
            </a:r>
          </a:p>
          <a:p>
            <a:r>
              <a:rPr lang="en-US" sz="1800" dirty="0"/>
              <a:t>  &lt;div class="grid-item"&gt;Fifth&lt;/div&gt;</a:t>
            </a:r>
          </a:p>
          <a:p>
            <a:r>
              <a:rPr lang="en-US" sz="1800" dirty="0"/>
              <a:t>&lt;/div&gt;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9152" y="3714970"/>
            <a:ext cx="12192000" cy="3041592"/>
          </a:xfrm>
          <a:prstGeom prst="rect">
            <a:avLst/>
          </a:prstGeom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375492" y="420211"/>
            <a:ext cx="10515600" cy="418646"/>
          </a:xfrm>
          <a:prstGeom prst="rect">
            <a:avLst/>
          </a:prstGeom>
        </p:spPr>
        <p:txBody>
          <a:bodyPr>
            <a:normAutofit fontScale="6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Grid Layout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07638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829</TotalTime>
  <Words>1005</Words>
  <Application>Microsoft Office PowerPoint</Application>
  <PresentationFormat>Widescreen</PresentationFormat>
  <Paragraphs>177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Arial</vt:lpstr>
      <vt:lpstr>Arial Rounded MT Bold</vt:lpstr>
      <vt:lpstr>Calibri</vt:lpstr>
      <vt:lpstr>Calibri Light</vt:lpstr>
      <vt:lpstr>Office Theme</vt:lpstr>
      <vt:lpstr>Cascading  Style Sheets</vt:lpstr>
      <vt:lpstr>Topics</vt:lpstr>
      <vt:lpstr>CSS for Navigation bar</vt:lpstr>
      <vt:lpstr>PowerPoint Presentation</vt:lpstr>
      <vt:lpstr>PowerPoint Presentation</vt:lpstr>
      <vt:lpstr>PowerPoint Presentation</vt:lpstr>
      <vt:lpstr>Styling Image gallery</vt:lpstr>
      <vt:lpstr>Styling Image gallery</vt:lpstr>
      <vt:lpstr>PowerPoint Presentation</vt:lpstr>
      <vt:lpstr>The CSS Box Model </vt:lpstr>
      <vt:lpstr>The CSS Box Model</vt:lpstr>
      <vt:lpstr>PowerPoint Presentation</vt:lpstr>
      <vt:lpstr>PowerPoint Presentation</vt:lpstr>
      <vt:lpstr>Styling Forms</vt:lpstr>
      <vt:lpstr>Styling Forms</vt:lpstr>
      <vt:lpstr>Styling Forms</vt:lpstr>
      <vt:lpstr>PowerPoint Presentation</vt:lpstr>
      <vt:lpstr>Grid Layout</vt:lpstr>
      <vt:lpstr>Grid Layout</vt:lpstr>
      <vt:lpstr>PowerPoint Presentation</vt:lpstr>
    </vt:vector>
  </TitlesOfParts>
  <Company>Microsoft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CSS</dc:title>
  <dc:creator>Lenovo</dc:creator>
  <cp:lastModifiedBy>Lenovo</cp:lastModifiedBy>
  <cp:revision>26</cp:revision>
  <dcterms:created xsi:type="dcterms:W3CDTF">2024-03-21T05:55:02Z</dcterms:created>
  <dcterms:modified xsi:type="dcterms:W3CDTF">2024-04-16T08:39:06Z</dcterms:modified>
</cp:coreProperties>
</file>