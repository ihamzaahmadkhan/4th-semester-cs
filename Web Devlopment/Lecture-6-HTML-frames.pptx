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73" r:id="rId11"/>
    <p:sldId id="274" r:id="rId12"/>
    <p:sldId id="275" r:id="rId13"/>
    <p:sldId id="276" r:id="rId14"/>
    <p:sldId id="264" r:id="rId15"/>
    <p:sldId id="277" r:id="rId16"/>
    <p:sldId id="278" r:id="rId17"/>
    <p:sldId id="279" r:id="rId18"/>
    <p:sldId id="266" r:id="rId19"/>
    <p:sldId id="272" r:id="rId20"/>
    <p:sldId id="267" r:id="rId21"/>
    <p:sldId id="268" r:id="rId22"/>
    <p:sldId id="26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84"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D1F8801-D8EA-4E2C-AB5F-FC3DE5F855C4}" type="datetimeFigureOut">
              <a:rPr lang="en-US" smtClean="0"/>
              <a:t>4/21/2021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2554320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D1F8801-D8EA-4E2C-AB5F-FC3DE5F855C4}" type="datetimeFigureOut">
              <a:rPr lang="en-US" smtClean="0"/>
              <a:t>4/21/2021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1692093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D1F8801-D8EA-4E2C-AB5F-FC3DE5F855C4}" type="datetimeFigureOut">
              <a:rPr lang="en-US" smtClean="0"/>
              <a:t>4/21/2021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1986745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D1F8801-D8EA-4E2C-AB5F-FC3DE5F855C4}" type="datetimeFigureOut">
              <a:rPr lang="en-US" smtClean="0"/>
              <a:t>4/21/2021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1623184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D1F8801-D8EA-4E2C-AB5F-FC3DE5F855C4}" type="datetimeFigureOut">
              <a:rPr lang="en-US" smtClean="0"/>
              <a:t>4/21/2021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1075925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D1F8801-D8EA-4E2C-AB5F-FC3DE5F855C4}" type="datetimeFigureOut">
              <a:rPr lang="en-US" smtClean="0"/>
              <a:t>4/21/2021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1874182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8801-D8EA-4E2C-AB5F-FC3DE5F855C4}" type="datetimeFigureOut">
              <a:rPr lang="en-US" smtClean="0"/>
              <a:t>4/21/2021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3608239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D1F8801-D8EA-4E2C-AB5F-FC3DE5F855C4}" type="datetimeFigureOut">
              <a:rPr lang="en-US" smtClean="0"/>
              <a:t>4/21/2021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1074066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D1F8801-D8EA-4E2C-AB5F-FC3DE5F855C4}" type="datetimeFigureOut">
              <a:rPr lang="en-US" smtClean="0"/>
              <a:t>4/21/2021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3362115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D1F8801-D8EA-4E2C-AB5F-FC3DE5F855C4}" type="datetimeFigureOut">
              <a:rPr lang="en-US" smtClean="0"/>
              <a:t>4/21/2021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3296807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D1F8801-D8EA-4E2C-AB5F-FC3DE5F855C4}" type="datetimeFigureOut">
              <a:rPr lang="en-US" smtClean="0"/>
              <a:t>4/21/2021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F3090B-8CF6-4EE0-9B67-C9C86B6020D3}" type="slidenum">
              <a:rPr lang="en-US" smtClean="0"/>
              <a:t>‹#›</a:t>
            </a:fld>
            <a:endParaRPr lang="en-US"/>
          </a:p>
        </p:txBody>
      </p:sp>
    </p:spTree>
    <p:extLst>
      <p:ext uri="{BB962C8B-B14F-4D97-AF65-F5344CB8AC3E}">
        <p14:creationId xmlns:p14="http://schemas.microsoft.com/office/powerpoint/2010/main" val="439853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F8801-D8EA-4E2C-AB5F-FC3DE5F855C4}" type="datetimeFigureOut">
              <a:rPr lang="en-US" smtClean="0"/>
              <a:t>4/21/2021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F3090B-8CF6-4EE0-9B67-C9C86B6020D3}" type="slidenum">
              <a:rPr lang="en-US" smtClean="0"/>
              <a:t>‹#›</a:t>
            </a:fld>
            <a:endParaRPr lang="en-US"/>
          </a:p>
        </p:txBody>
      </p:sp>
    </p:spTree>
    <p:extLst>
      <p:ext uri="{BB962C8B-B14F-4D97-AF65-F5344CB8AC3E}">
        <p14:creationId xmlns:p14="http://schemas.microsoft.com/office/powerpoint/2010/main" val="1389146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HTML FRAMES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6999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a:t>
            </a:r>
            <a:endParaRPr lang="en-US" dirty="0"/>
          </a:p>
        </p:txBody>
      </p:sp>
      <p:sp>
        <p:nvSpPr>
          <p:cNvPr id="3" name="Content Placeholder 2"/>
          <p:cNvSpPr>
            <a:spLocks noGrp="1"/>
          </p:cNvSpPr>
          <p:nvPr>
            <p:ph idx="1"/>
          </p:nvPr>
        </p:nvSpPr>
        <p:spPr/>
        <p:txBody>
          <a:bodyPr/>
          <a:lstStyle/>
          <a:p>
            <a:r>
              <a:rPr lang="en-US" dirty="0"/>
              <a:t>A frame is a container that divides a web browser </a:t>
            </a:r>
            <a:r>
              <a:rPr lang="en-US" dirty="0" smtClean="0"/>
              <a:t>into different </a:t>
            </a:r>
            <a:r>
              <a:rPr lang="en-US" dirty="0"/>
              <a:t>sections.</a:t>
            </a:r>
          </a:p>
          <a:p>
            <a:r>
              <a:rPr lang="en-US" dirty="0" smtClean="0"/>
              <a:t>Each </a:t>
            </a:r>
            <a:r>
              <a:rPr lang="en-US" dirty="0"/>
              <a:t>section (frame) can be used to display a </a:t>
            </a:r>
            <a:r>
              <a:rPr lang="en-US" dirty="0" smtClean="0"/>
              <a:t>different web </a:t>
            </a:r>
            <a:r>
              <a:rPr lang="en-US" dirty="0"/>
              <a:t>page.</a:t>
            </a:r>
          </a:p>
          <a:p>
            <a:r>
              <a:rPr lang="en-US" dirty="0" smtClean="0"/>
              <a:t>Many </a:t>
            </a:r>
            <a:r>
              <a:rPr lang="en-US" dirty="0"/>
              <a:t>web pages can be displayed at the same time </a:t>
            </a:r>
            <a:r>
              <a:rPr lang="en-US" dirty="0" smtClean="0"/>
              <a:t>using frames</a:t>
            </a:r>
            <a:r>
              <a:rPr lang="en-US" dirty="0"/>
              <a:t>.</a:t>
            </a:r>
          </a:p>
          <a:p>
            <a:r>
              <a:rPr lang="en-US" dirty="0" smtClean="0"/>
              <a:t>These </a:t>
            </a:r>
            <a:r>
              <a:rPr lang="en-US" dirty="0"/>
              <a:t>sections work independently but </a:t>
            </a:r>
            <a:r>
              <a:rPr lang="en-US" dirty="0" smtClean="0"/>
              <a:t>appears simultaneously </a:t>
            </a:r>
            <a:r>
              <a:rPr lang="en-US" dirty="0"/>
              <a:t>in the browser.</a:t>
            </a:r>
          </a:p>
        </p:txBody>
      </p:sp>
    </p:spTree>
    <p:extLst>
      <p:ext uri="{BB962C8B-B14F-4D97-AF65-F5344CB8AC3E}">
        <p14:creationId xmlns:p14="http://schemas.microsoft.com/office/powerpoint/2010/main" val="2468979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 </a:t>
            </a:r>
            <a:endParaRPr lang="en-US" dirty="0"/>
          </a:p>
        </p:txBody>
      </p:sp>
      <p:sp>
        <p:nvSpPr>
          <p:cNvPr id="3" name="Content Placeholder 2"/>
          <p:cNvSpPr>
            <a:spLocks noGrp="1"/>
          </p:cNvSpPr>
          <p:nvPr>
            <p:ph idx="1"/>
          </p:nvPr>
        </p:nvSpPr>
        <p:spPr/>
        <p:txBody>
          <a:bodyPr/>
          <a:lstStyle/>
          <a:p>
            <a:r>
              <a:rPr lang="en-US" dirty="0"/>
              <a:t>&lt;FRAMESET&gt; Tag</a:t>
            </a:r>
          </a:p>
          <a:p>
            <a:r>
              <a:rPr lang="en-US" dirty="0" smtClean="0"/>
              <a:t>&lt;</a:t>
            </a:r>
            <a:r>
              <a:rPr lang="en-US" dirty="0"/>
              <a:t>FRAMESET&gt; tag is used to define the style and number </a:t>
            </a:r>
            <a:r>
              <a:rPr lang="en-US" dirty="0" smtClean="0"/>
              <a:t>of sections </a:t>
            </a:r>
            <a:r>
              <a:rPr lang="en-US" dirty="0"/>
              <a:t>(frames) in which the web browser has to be divided.</a:t>
            </a:r>
          </a:p>
          <a:p>
            <a:r>
              <a:rPr lang="en-US" dirty="0" smtClean="0"/>
              <a:t>It </a:t>
            </a:r>
            <a:r>
              <a:rPr lang="en-US" dirty="0"/>
              <a:t>makes division on the basis of number of rows or columns.</a:t>
            </a:r>
          </a:p>
        </p:txBody>
      </p:sp>
    </p:spTree>
    <p:extLst>
      <p:ext uri="{BB962C8B-B14F-4D97-AF65-F5344CB8AC3E}">
        <p14:creationId xmlns:p14="http://schemas.microsoft.com/office/powerpoint/2010/main" val="2974200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 Attributes</a:t>
            </a:r>
            <a:endParaRPr lang="en-US" dirty="0"/>
          </a:p>
        </p:txBody>
      </p:sp>
      <p:sp>
        <p:nvSpPr>
          <p:cNvPr id="3" name="Content Placeholder 2"/>
          <p:cNvSpPr>
            <a:spLocks noGrp="1"/>
          </p:cNvSpPr>
          <p:nvPr>
            <p:ph idx="1"/>
          </p:nvPr>
        </p:nvSpPr>
        <p:spPr/>
        <p:txBody>
          <a:bodyPr>
            <a:normAutofit/>
          </a:bodyPr>
          <a:lstStyle/>
          <a:p>
            <a:r>
              <a:rPr lang="en-US" dirty="0"/>
              <a:t>ROWS : Divides the web browser into multiple sections </a:t>
            </a:r>
            <a:r>
              <a:rPr lang="en-US" dirty="0" smtClean="0"/>
              <a:t>based on </a:t>
            </a:r>
            <a:r>
              <a:rPr lang="en-US" dirty="0"/>
              <a:t>the number of rows. Its value can be given as:</a:t>
            </a:r>
          </a:p>
          <a:p>
            <a:pPr lvl="1"/>
            <a:r>
              <a:rPr lang="en-US" dirty="0" smtClean="0"/>
              <a:t>Number </a:t>
            </a:r>
            <a:r>
              <a:rPr lang="en-US" dirty="0"/>
              <a:t>of pixels.</a:t>
            </a:r>
          </a:p>
          <a:p>
            <a:pPr lvl="1"/>
            <a:r>
              <a:rPr lang="en-US" dirty="0" smtClean="0"/>
              <a:t>Percentage </a:t>
            </a:r>
            <a:r>
              <a:rPr lang="en-US" dirty="0"/>
              <a:t>of the web browser area.</a:t>
            </a:r>
          </a:p>
          <a:p>
            <a:pPr lvl="1"/>
            <a:r>
              <a:rPr lang="en-US" dirty="0" smtClean="0"/>
              <a:t>Wildcard </a:t>
            </a:r>
            <a:r>
              <a:rPr lang="en-US" dirty="0"/>
              <a:t>(*) to indicate all of the remaining space.</a:t>
            </a:r>
          </a:p>
          <a:p>
            <a:r>
              <a:rPr lang="en-US" dirty="0" smtClean="0"/>
              <a:t>COLS </a:t>
            </a:r>
            <a:r>
              <a:rPr lang="en-US" dirty="0"/>
              <a:t>: Divides the web browser into multiple sections </a:t>
            </a:r>
            <a:r>
              <a:rPr lang="en-US" dirty="0" smtClean="0"/>
              <a:t>based on </a:t>
            </a:r>
            <a:r>
              <a:rPr lang="en-US" dirty="0"/>
              <a:t>the number of columns. Its value can be given as:</a:t>
            </a:r>
          </a:p>
          <a:p>
            <a:pPr lvl="1"/>
            <a:r>
              <a:rPr lang="en-US" dirty="0" smtClean="0"/>
              <a:t>Number </a:t>
            </a:r>
            <a:r>
              <a:rPr lang="en-US" dirty="0"/>
              <a:t>of pixels.</a:t>
            </a:r>
          </a:p>
          <a:p>
            <a:pPr lvl="1"/>
            <a:r>
              <a:rPr lang="en-US" dirty="0" smtClean="0"/>
              <a:t>Percentage </a:t>
            </a:r>
            <a:r>
              <a:rPr lang="en-US" dirty="0"/>
              <a:t>of the web browser area.</a:t>
            </a:r>
          </a:p>
          <a:p>
            <a:pPr lvl="1"/>
            <a:r>
              <a:rPr lang="en-US" dirty="0" smtClean="0"/>
              <a:t>Wildcard </a:t>
            </a:r>
            <a:r>
              <a:rPr lang="en-US" dirty="0"/>
              <a:t>(*) to indicate all of the remaining space.</a:t>
            </a:r>
          </a:p>
        </p:txBody>
      </p:sp>
    </p:spTree>
    <p:extLst>
      <p:ext uri="{BB962C8B-B14F-4D97-AF65-F5344CB8AC3E}">
        <p14:creationId xmlns:p14="http://schemas.microsoft.com/office/powerpoint/2010/main" val="1847306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&lt;FRAMESET </a:t>
            </a:r>
            <a:r>
              <a:rPr lang="en-US" dirty="0"/>
              <a:t>ROWS =“40%,40%,20%”&gt;</a:t>
            </a:r>
          </a:p>
          <a:p>
            <a:r>
              <a:rPr lang="en-US" dirty="0"/>
              <a:t>&lt;/FRAMESET&gt;</a:t>
            </a:r>
          </a:p>
          <a:p>
            <a:r>
              <a:rPr lang="en-US" dirty="0" smtClean="0"/>
              <a:t>It </a:t>
            </a:r>
            <a:r>
              <a:rPr lang="en-US" dirty="0"/>
              <a:t>divides the web browser area into </a:t>
            </a:r>
            <a:r>
              <a:rPr lang="en-US" dirty="0" smtClean="0"/>
              <a:t>three horizontal </a:t>
            </a:r>
            <a:r>
              <a:rPr lang="en-US" dirty="0"/>
              <a:t>parts</a:t>
            </a:r>
            <a:r>
              <a:rPr lang="en-US" dirty="0" smtClean="0"/>
              <a:t>. </a:t>
            </a:r>
            <a:r>
              <a:rPr lang="en-US" dirty="0"/>
              <a:t>The first two parts consists of 40% each and </a:t>
            </a:r>
            <a:r>
              <a:rPr lang="en-US" dirty="0" smtClean="0"/>
              <a:t>the last </a:t>
            </a:r>
            <a:r>
              <a:rPr lang="en-US" dirty="0"/>
              <a:t>part consists of 20% of the web browser area.</a:t>
            </a:r>
          </a:p>
          <a:p>
            <a:endParaRPr lang="en-US" dirty="0" smtClean="0"/>
          </a:p>
          <a:p>
            <a:r>
              <a:rPr lang="en-US" dirty="0" smtClean="0"/>
              <a:t> </a:t>
            </a:r>
            <a:r>
              <a:rPr lang="en-US" dirty="0"/>
              <a:t>&lt;FRAMESET COLS =“40%,30%,*”&gt;</a:t>
            </a:r>
          </a:p>
          <a:p>
            <a:r>
              <a:rPr lang="en-US" dirty="0"/>
              <a:t>&lt;/FRAMESET&gt;</a:t>
            </a:r>
          </a:p>
          <a:p>
            <a:r>
              <a:rPr lang="en-US" dirty="0" smtClean="0"/>
              <a:t>It </a:t>
            </a:r>
            <a:r>
              <a:rPr lang="en-US" dirty="0"/>
              <a:t>divides the web browser area into three </a:t>
            </a:r>
            <a:r>
              <a:rPr lang="en-US" dirty="0" smtClean="0"/>
              <a:t>vertical parts. The </a:t>
            </a:r>
            <a:r>
              <a:rPr lang="en-US" dirty="0"/>
              <a:t>first part consists of 40% and the second </a:t>
            </a:r>
            <a:r>
              <a:rPr lang="en-US" dirty="0" smtClean="0"/>
              <a:t>part consists </a:t>
            </a:r>
            <a:r>
              <a:rPr lang="en-US" dirty="0"/>
              <a:t>of 30% and the remaining of the </a:t>
            </a:r>
            <a:r>
              <a:rPr lang="en-US" dirty="0" smtClean="0"/>
              <a:t>web browser </a:t>
            </a:r>
            <a:r>
              <a:rPr lang="en-US" dirty="0"/>
              <a:t>is allocated to the third part by using (*).</a:t>
            </a:r>
          </a:p>
        </p:txBody>
      </p:sp>
    </p:spTree>
    <p:extLst>
      <p:ext uri="{BB962C8B-B14F-4D97-AF65-F5344CB8AC3E}">
        <p14:creationId xmlns:p14="http://schemas.microsoft.com/office/powerpoint/2010/main" val="906162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&lt;FRAME&gt; Tag</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&lt;</a:t>
            </a:r>
            <a:r>
              <a:rPr lang="en-US" dirty="0"/>
              <a:t>FRAME&gt; tag is used to specify the web page that </a:t>
            </a:r>
            <a:r>
              <a:rPr lang="en-US" dirty="0" smtClean="0"/>
              <a:t>will be </a:t>
            </a:r>
            <a:r>
              <a:rPr lang="en-US" dirty="0"/>
              <a:t>displayed in that particular frame.</a:t>
            </a:r>
          </a:p>
          <a:p>
            <a:r>
              <a:rPr lang="en-US" dirty="0" smtClean="0"/>
              <a:t>&lt;</a:t>
            </a:r>
            <a:r>
              <a:rPr lang="en-US" dirty="0"/>
              <a:t>FRAME&gt; tag is used within &lt;FRAMESET&gt; tag.</a:t>
            </a:r>
          </a:p>
          <a:p>
            <a:r>
              <a:rPr lang="en-US" dirty="0" smtClean="0"/>
              <a:t>Attributes </a:t>
            </a:r>
            <a:r>
              <a:rPr lang="en-US" dirty="0"/>
              <a:t>of &lt;FRAME&gt; tag are:</a:t>
            </a:r>
          </a:p>
          <a:p>
            <a:pPr lvl="1"/>
            <a:r>
              <a:rPr lang="en-US" dirty="0" smtClean="0"/>
              <a:t>SRC </a:t>
            </a:r>
            <a:r>
              <a:rPr lang="en-US" dirty="0"/>
              <a:t>: Specifies the page to be displayed in the frame.</a:t>
            </a:r>
          </a:p>
          <a:p>
            <a:pPr lvl="1"/>
            <a:r>
              <a:rPr lang="en-US" dirty="0" smtClean="0"/>
              <a:t>NAME </a:t>
            </a:r>
            <a:r>
              <a:rPr lang="en-US" dirty="0"/>
              <a:t>: Specifies the name of the frame.</a:t>
            </a:r>
          </a:p>
          <a:p>
            <a:pPr lvl="1"/>
            <a:r>
              <a:rPr lang="en-US" dirty="0" smtClean="0"/>
              <a:t>NORESIZE </a:t>
            </a:r>
            <a:r>
              <a:rPr lang="en-US" dirty="0"/>
              <a:t>: Makes the frame un-resizable.</a:t>
            </a:r>
          </a:p>
          <a:p>
            <a:pPr lvl="1"/>
            <a:r>
              <a:rPr lang="en-US" dirty="0" smtClean="0"/>
              <a:t>SCROLLING </a:t>
            </a:r>
            <a:r>
              <a:rPr lang="en-US" dirty="0"/>
              <a:t>: Specifies the appearance of </a:t>
            </a:r>
            <a:r>
              <a:rPr lang="en-US" dirty="0" smtClean="0"/>
              <a:t>horizontal and </a:t>
            </a:r>
            <a:r>
              <a:rPr lang="en-US" dirty="0"/>
              <a:t>vertical scrollbars of a frame.</a:t>
            </a:r>
          </a:p>
          <a:p>
            <a:pPr lvl="2"/>
            <a:r>
              <a:rPr lang="en-US" dirty="0" smtClean="0"/>
              <a:t>The </a:t>
            </a:r>
            <a:r>
              <a:rPr lang="en-US" dirty="0"/>
              <a:t>possible values of SCROLLING are YES, </a:t>
            </a:r>
            <a:r>
              <a:rPr lang="en-US" dirty="0" smtClean="0"/>
              <a:t>NO and </a:t>
            </a:r>
            <a:r>
              <a:rPr lang="en-US" dirty="0"/>
              <a:t>AUTO.</a:t>
            </a:r>
          </a:p>
        </p:txBody>
      </p:sp>
    </p:spTree>
    <p:extLst>
      <p:ext uri="{BB962C8B-B14F-4D97-AF65-F5344CB8AC3E}">
        <p14:creationId xmlns:p14="http://schemas.microsoft.com/office/powerpoint/2010/main" val="1984039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&lt;FRAME&gt; Tag</a:t>
            </a:r>
            <a:br>
              <a:rPr lang="en-US" dirty="0" smtClean="0"/>
            </a:br>
            <a:r>
              <a:rPr lang="en-US" dirty="0" smtClean="0"/>
              <a:t>Example:</a:t>
            </a:r>
            <a:endParaRPr lang="en-US" dirty="0"/>
          </a:p>
        </p:txBody>
      </p:sp>
      <p:sp>
        <p:nvSpPr>
          <p:cNvPr id="3" name="Content Placeholder 2"/>
          <p:cNvSpPr>
            <a:spLocks noGrp="1"/>
          </p:cNvSpPr>
          <p:nvPr>
            <p:ph idx="1"/>
          </p:nvPr>
        </p:nvSpPr>
        <p:spPr/>
        <p:txBody>
          <a:bodyPr/>
          <a:lstStyle/>
          <a:p>
            <a:pPr marL="0" indent="0">
              <a:buNone/>
            </a:pPr>
            <a:r>
              <a:rPr lang="en-US" dirty="0" smtClean="0"/>
              <a:t>&lt;</a:t>
            </a:r>
            <a:r>
              <a:rPr lang="en-US" dirty="0"/>
              <a:t>FRAMESET </a:t>
            </a:r>
            <a:r>
              <a:rPr lang="en-US" dirty="0" smtClean="0"/>
              <a:t>COLS </a:t>
            </a:r>
            <a:r>
              <a:rPr lang="en-US" dirty="0"/>
              <a:t>=“33%, 33%, *”&gt;</a:t>
            </a:r>
          </a:p>
          <a:p>
            <a:pPr marL="0" indent="0">
              <a:buNone/>
            </a:pPr>
            <a:r>
              <a:rPr lang="en-US" dirty="0" smtClean="0"/>
              <a:t>	&lt;</a:t>
            </a:r>
            <a:r>
              <a:rPr lang="en-US" dirty="0"/>
              <a:t>FRAME SRC </a:t>
            </a:r>
            <a:r>
              <a:rPr lang="en-US" dirty="0" smtClean="0"/>
              <a:t>=“Left.HTML</a:t>
            </a:r>
            <a:r>
              <a:rPr lang="en-US" dirty="0"/>
              <a:t>” NAME </a:t>
            </a:r>
            <a:r>
              <a:rPr lang="en-US" dirty="0" smtClean="0"/>
              <a:t>=“Left”&gt;</a:t>
            </a:r>
            <a:endParaRPr lang="en-US" dirty="0"/>
          </a:p>
          <a:p>
            <a:pPr marL="0" indent="0">
              <a:buNone/>
            </a:pPr>
            <a:r>
              <a:rPr lang="en-US" dirty="0" smtClean="0"/>
              <a:t>	&lt;</a:t>
            </a:r>
            <a:r>
              <a:rPr lang="en-US" dirty="0"/>
              <a:t>FRAME SRC =“Center.HTML” NAME =“Center”&gt;</a:t>
            </a:r>
          </a:p>
          <a:p>
            <a:pPr marL="0" indent="0">
              <a:buNone/>
            </a:pPr>
            <a:r>
              <a:rPr lang="en-US" dirty="0" smtClean="0"/>
              <a:t>	&lt;</a:t>
            </a:r>
            <a:r>
              <a:rPr lang="en-US" dirty="0"/>
              <a:t>FRAME SRC </a:t>
            </a:r>
            <a:r>
              <a:rPr lang="en-US" dirty="0" smtClean="0"/>
              <a:t>=“Right.HTML</a:t>
            </a:r>
            <a:r>
              <a:rPr lang="en-US" dirty="0"/>
              <a:t>” NAME </a:t>
            </a:r>
            <a:r>
              <a:rPr lang="en-US" dirty="0" smtClean="0"/>
              <a:t>=“Right”&gt;</a:t>
            </a:r>
            <a:endParaRPr lang="en-US" dirty="0"/>
          </a:p>
          <a:p>
            <a:pPr marL="0" indent="0">
              <a:buNone/>
            </a:pPr>
            <a:r>
              <a:rPr lang="en-US" dirty="0"/>
              <a:t>&lt;/FRAMESET&gt;</a:t>
            </a:r>
          </a:p>
        </p:txBody>
      </p:sp>
    </p:spTree>
    <p:extLst>
      <p:ext uri="{BB962C8B-B14F-4D97-AF65-F5344CB8AC3E}">
        <p14:creationId xmlns:p14="http://schemas.microsoft.com/office/powerpoint/2010/main" val="3185397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TARGET Frame</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a:t>
            </a:r>
            <a:r>
              <a:rPr lang="en-US" dirty="0"/>
              <a:t>target attribute in &lt;A&gt; tag is used to specify </a:t>
            </a:r>
            <a:r>
              <a:rPr lang="en-US" dirty="0" smtClean="0"/>
              <a:t>the target </a:t>
            </a:r>
            <a:r>
              <a:rPr lang="en-US" dirty="0"/>
              <a:t>frame in which the page will be loaded.</a:t>
            </a:r>
          </a:p>
          <a:p>
            <a:r>
              <a:rPr lang="en-US" dirty="0" smtClean="0"/>
              <a:t>It </a:t>
            </a:r>
            <a:r>
              <a:rPr lang="en-US" dirty="0"/>
              <a:t>can be used to open different web pages in a </a:t>
            </a:r>
            <a:r>
              <a:rPr lang="en-US" dirty="0" smtClean="0"/>
              <a:t>frame while </a:t>
            </a:r>
            <a:r>
              <a:rPr lang="en-US" dirty="0"/>
              <a:t>other frames remains static.</a:t>
            </a:r>
          </a:p>
          <a:p>
            <a:r>
              <a:rPr lang="en-US" dirty="0" smtClean="0"/>
              <a:t>The </a:t>
            </a:r>
            <a:r>
              <a:rPr lang="en-US" dirty="0"/>
              <a:t>possible values of TARGET attribute are:</a:t>
            </a:r>
          </a:p>
          <a:p>
            <a:pPr lvl="1"/>
            <a:r>
              <a:rPr lang="en-US" dirty="0" smtClean="0"/>
              <a:t>parent</a:t>
            </a:r>
            <a:r>
              <a:rPr lang="en-US" dirty="0"/>
              <a:t>/_top : The page is loaded into the </a:t>
            </a:r>
            <a:r>
              <a:rPr lang="en-US" dirty="0" smtClean="0"/>
              <a:t>frameset containing </a:t>
            </a:r>
            <a:r>
              <a:rPr lang="en-US" dirty="0"/>
              <a:t>the current page or it will replace </a:t>
            </a:r>
            <a:r>
              <a:rPr lang="en-US" dirty="0" smtClean="0"/>
              <a:t>the frameset </a:t>
            </a:r>
            <a:r>
              <a:rPr lang="en-US" dirty="0"/>
              <a:t>loaded in the current whole browser window.</a:t>
            </a:r>
          </a:p>
          <a:p>
            <a:pPr lvl="1"/>
            <a:r>
              <a:rPr lang="en-US" dirty="0" smtClean="0"/>
              <a:t>blank </a:t>
            </a:r>
            <a:r>
              <a:rPr lang="en-US" dirty="0"/>
              <a:t>: The page is loaded into the new </a:t>
            </a:r>
            <a:r>
              <a:rPr lang="en-US" dirty="0" smtClean="0"/>
              <a:t>browser window. </a:t>
            </a:r>
            <a:endParaRPr lang="en-US" dirty="0"/>
          </a:p>
          <a:p>
            <a:pPr lvl="1"/>
            <a:r>
              <a:rPr lang="en-US" dirty="0" smtClean="0"/>
              <a:t>self </a:t>
            </a:r>
            <a:r>
              <a:rPr lang="en-US" dirty="0"/>
              <a:t>: The page is loaded into the same frame </a:t>
            </a:r>
            <a:r>
              <a:rPr lang="en-US" dirty="0" smtClean="0"/>
              <a:t>in which </a:t>
            </a:r>
            <a:r>
              <a:rPr lang="en-US" dirty="0"/>
              <a:t>the link exists. It is the default target.</a:t>
            </a:r>
          </a:p>
          <a:p>
            <a:pPr lvl="1"/>
            <a:r>
              <a:rPr lang="en-US" dirty="0" smtClean="0"/>
              <a:t>Frame </a:t>
            </a:r>
            <a:r>
              <a:rPr lang="en-US" dirty="0"/>
              <a:t>Name : A page can be loaded into a </a:t>
            </a:r>
            <a:r>
              <a:rPr lang="en-US" dirty="0" smtClean="0"/>
              <a:t>specific frame </a:t>
            </a:r>
            <a:r>
              <a:rPr lang="en-US" dirty="0"/>
              <a:t>by specifying the frame’s name.</a:t>
            </a:r>
          </a:p>
        </p:txBody>
      </p:sp>
    </p:spTree>
    <p:extLst>
      <p:ext uri="{BB962C8B-B14F-4D97-AF65-F5344CB8AC3E}">
        <p14:creationId xmlns:p14="http://schemas.microsoft.com/office/powerpoint/2010/main" val="2934915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Nested Frames</a:t>
            </a:r>
            <a:br>
              <a:rPr lang="en-US" dirty="0" smtClean="0"/>
            </a:br>
            <a:endParaRPr lang="en-US" dirty="0"/>
          </a:p>
        </p:txBody>
      </p:sp>
      <p:sp>
        <p:nvSpPr>
          <p:cNvPr id="3" name="Content Placeholder 2"/>
          <p:cNvSpPr>
            <a:spLocks noGrp="1"/>
          </p:cNvSpPr>
          <p:nvPr>
            <p:ph idx="1"/>
          </p:nvPr>
        </p:nvSpPr>
        <p:spPr>
          <a:xfrm>
            <a:off x="479684" y="1825625"/>
            <a:ext cx="11317575" cy="4351338"/>
          </a:xfrm>
        </p:spPr>
        <p:txBody>
          <a:bodyPr>
            <a:normAutofit fontScale="92500" lnSpcReduction="20000"/>
          </a:bodyPr>
          <a:lstStyle/>
          <a:p>
            <a:r>
              <a:rPr lang="en-US" dirty="0" smtClean="0"/>
              <a:t>A </a:t>
            </a:r>
            <a:r>
              <a:rPr lang="en-US" dirty="0"/>
              <a:t>frame within a frame is called nested frame.</a:t>
            </a:r>
          </a:p>
          <a:p>
            <a:r>
              <a:rPr lang="en-US" dirty="0" smtClean="0"/>
              <a:t>Nested </a:t>
            </a:r>
            <a:r>
              <a:rPr lang="en-US" dirty="0"/>
              <a:t>frame are used to divide the web browser </a:t>
            </a:r>
            <a:r>
              <a:rPr lang="en-US" dirty="0" smtClean="0"/>
              <a:t>area into </a:t>
            </a:r>
            <a:r>
              <a:rPr lang="en-US" dirty="0"/>
              <a:t>multiple levels.</a:t>
            </a:r>
          </a:p>
          <a:p>
            <a:r>
              <a:rPr lang="en-US" dirty="0" smtClean="0"/>
              <a:t>Example</a:t>
            </a:r>
            <a:r>
              <a:rPr lang="en-US" dirty="0"/>
              <a:t>:</a:t>
            </a:r>
          </a:p>
          <a:p>
            <a:pPr marL="0" indent="0">
              <a:buNone/>
            </a:pPr>
            <a:r>
              <a:rPr lang="en-US" dirty="0"/>
              <a:t>&lt;FRAMESET ROWS ="20%,80%"&gt;</a:t>
            </a:r>
          </a:p>
          <a:p>
            <a:pPr marL="0" indent="0">
              <a:buNone/>
            </a:pPr>
            <a:r>
              <a:rPr lang="en-US" dirty="0"/>
              <a:t>&lt;FRAME SRC ="Top2.HTML" NAME ="</a:t>
            </a:r>
            <a:r>
              <a:rPr lang="en-US" dirty="0" smtClean="0"/>
              <a:t>Top“ SCROLLING</a:t>
            </a:r>
            <a:r>
              <a:rPr lang="en-US" dirty="0"/>
              <a:t>="No" NORESIZE&gt;</a:t>
            </a:r>
          </a:p>
          <a:p>
            <a:pPr marL="0" indent="0">
              <a:buNone/>
            </a:pPr>
            <a:r>
              <a:rPr lang="en-US" dirty="0" smtClean="0"/>
              <a:t>	&lt;</a:t>
            </a:r>
            <a:r>
              <a:rPr lang="en-US" dirty="0"/>
              <a:t>FRAMESET COLS ="20%,80%"&gt;</a:t>
            </a:r>
          </a:p>
          <a:p>
            <a:pPr marL="0" indent="0">
              <a:buNone/>
            </a:pPr>
            <a:r>
              <a:rPr lang="en-US" dirty="0" smtClean="0"/>
              <a:t>	&lt;</a:t>
            </a:r>
            <a:r>
              <a:rPr lang="en-US" dirty="0"/>
              <a:t>FRAME SRC ="Menu.HTML" NAME ="</a:t>
            </a:r>
            <a:r>
              <a:rPr lang="en-US" dirty="0" smtClean="0"/>
              <a:t>Menu“ SCROLLING</a:t>
            </a:r>
            <a:r>
              <a:rPr lang="en-US" dirty="0"/>
              <a:t>="No" NORESIZE&gt;</a:t>
            </a:r>
          </a:p>
          <a:p>
            <a:pPr marL="0" indent="0">
              <a:buNone/>
            </a:pPr>
            <a:r>
              <a:rPr lang="en-US" dirty="0" smtClean="0"/>
              <a:t>	&lt;</a:t>
            </a:r>
            <a:r>
              <a:rPr lang="en-US" dirty="0"/>
              <a:t>FRAME SRC ="Main.HTML" NAME ="Main"&gt;</a:t>
            </a:r>
          </a:p>
          <a:p>
            <a:pPr marL="0" indent="0">
              <a:buNone/>
            </a:pPr>
            <a:r>
              <a:rPr lang="en-US" dirty="0" smtClean="0"/>
              <a:t>	&lt;/</a:t>
            </a:r>
            <a:r>
              <a:rPr lang="en-US" dirty="0"/>
              <a:t>FRAMESET&gt;</a:t>
            </a:r>
          </a:p>
          <a:p>
            <a:pPr marL="0" indent="0">
              <a:buNone/>
            </a:pPr>
            <a:r>
              <a:rPr lang="en-US" dirty="0"/>
              <a:t>&lt;/FRAMESET&gt;</a:t>
            </a:r>
          </a:p>
        </p:txBody>
      </p:sp>
    </p:spTree>
    <p:extLst>
      <p:ext uri="{BB962C8B-B14F-4D97-AF65-F5344CB8AC3E}">
        <p14:creationId xmlns:p14="http://schemas.microsoft.com/office/powerpoint/2010/main" val="2753914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 of Frames</a:t>
            </a:r>
            <a:br>
              <a:rPr lang="en-US" dirty="0"/>
            </a:br>
            <a:endParaRPr lang="en-US" dirty="0"/>
          </a:p>
        </p:txBody>
      </p:sp>
      <p:sp>
        <p:nvSpPr>
          <p:cNvPr id="3" name="Content Placeholder 2"/>
          <p:cNvSpPr>
            <a:spLocks noGrp="1"/>
          </p:cNvSpPr>
          <p:nvPr>
            <p:ph idx="1"/>
          </p:nvPr>
        </p:nvSpPr>
        <p:spPr/>
        <p:txBody>
          <a:bodyPr/>
          <a:lstStyle/>
          <a:p>
            <a:r>
              <a:rPr lang="en-US" dirty="0" smtClean="0"/>
              <a:t>There </a:t>
            </a:r>
            <a:r>
              <a:rPr lang="en-US" dirty="0"/>
              <a:t>are few drawbacks with using frames, so it's never recommended to use frames in your webpages −</a:t>
            </a:r>
          </a:p>
          <a:p>
            <a:r>
              <a:rPr lang="en-US" dirty="0"/>
              <a:t>Some smaller devices cannot cope with frames often because their screen is not big enough to be divided up.</a:t>
            </a:r>
          </a:p>
          <a:p>
            <a:r>
              <a:rPr lang="en-US" dirty="0"/>
              <a:t>Sometimes your page will be displayed differently on different computers due to different screen resolution.</a:t>
            </a:r>
          </a:p>
          <a:p>
            <a:r>
              <a:rPr lang="en-US" dirty="0"/>
              <a:t>The browser's </a:t>
            </a:r>
            <a:r>
              <a:rPr lang="en-US" i="1" dirty="0"/>
              <a:t>back</a:t>
            </a:r>
            <a:r>
              <a:rPr lang="en-US" dirty="0"/>
              <a:t> button might not work as the user hopes.</a:t>
            </a:r>
          </a:p>
          <a:p>
            <a:r>
              <a:rPr lang="en-US" dirty="0"/>
              <a:t>There are still few browsers that do not support frame technology.</a:t>
            </a:r>
          </a:p>
          <a:p>
            <a:endParaRPr lang="en-US" dirty="0"/>
          </a:p>
        </p:txBody>
      </p:sp>
    </p:spTree>
    <p:extLst>
      <p:ext uri="{BB962C8B-B14F-4D97-AF65-F5344CB8AC3E}">
        <p14:creationId xmlns:p14="http://schemas.microsoft.com/office/powerpoint/2010/main" val="1122887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Important</a:t>
            </a:r>
            <a:endParaRPr lang="en-US" dirty="0"/>
          </a:p>
        </p:txBody>
      </p:sp>
      <p:sp>
        <p:nvSpPr>
          <p:cNvPr id="3" name="Content Placeholder 2"/>
          <p:cNvSpPr>
            <a:spLocks noGrp="1"/>
          </p:cNvSpPr>
          <p:nvPr>
            <p:ph idx="1"/>
          </p:nvPr>
        </p:nvSpPr>
        <p:spPr/>
        <p:txBody>
          <a:bodyPr/>
          <a:lstStyle/>
          <a:p>
            <a:r>
              <a:rPr lang="en-US" dirty="0" smtClean="0"/>
              <a:t>The </a:t>
            </a:r>
            <a:r>
              <a:rPr lang="en-US" dirty="0"/>
              <a:t>&lt;frameset&gt; tag was used in HTML 4 to define a frameset</a:t>
            </a:r>
            <a:r>
              <a:rPr lang="en-US" dirty="0" smtClean="0"/>
              <a:t>.</a:t>
            </a:r>
          </a:p>
          <a:p>
            <a:endParaRPr lang="en-US" dirty="0" smtClean="0"/>
          </a:p>
          <a:p>
            <a:r>
              <a:rPr lang="en-US" dirty="0" smtClean="0"/>
              <a:t>It is </a:t>
            </a:r>
            <a:r>
              <a:rPr lang="en-US" b="1" dirty="0"/>
              <a:t>Not Supported in HTML5</a:t>
            </a:r>
            <a:r>
              <a:rPr lang="en-US" dirty="0" smtClean="0"/>
              <a:t>.</a:t>
            </a:r>
          </a:p>
          <a:p>
            <a:endParaRPr lang="en-US" dirty="0"/>
          </a:p>
          <a:p>
            <a:r>
              <a:rPr lang="en-US" dirty="0"/>
              <a:t>Use the &lt;iframe&gt; tag to embed another document within the current HTML document:</a:t>
            </a:r>
          </a:p>
          <a:p>
            <a:r>
              <a:rPr lang="en-US" dirty="0"/>
              <a:t>&lt;iframe </a:t>
            </a:r>
            <a:r>
              <a:rPr lang="en-US" dirty="0" err="1"/>
              <a:t>src</a:t>
            </a:r>
            <a:r>
              <a:rPr lang="en-US" dirty="0" smtClean="0"/>
              <a:t>=“abc.html“ width=“100%” height=“200”&gt;&lt;/</a:t>
            </a:r>
            <a:r>
              <a:rPr lang="en-US" dirty="0"/>
              <a:t>iframe&gt;</a:t>
            </a:r>
          </a:p>
          <a:p>
            <a:endParaRPr lang="en-US" dirty="0"/>
          </a:p>
          <a:p>
            <a:endParaRPr lang="en-US" dirty="0"/>
          </a:p>
        </p:txBody>
      </p:sp>
    </p:spTree>
    <p:extLst>
      <p:ext uri="{BB962C8B-B14F-4D97-AF65-F5344CB8AC3E}">
        <p14:creationId xmlns:p14="http://schemas.microsoft.com/office/powerpoint/2010/main" val="3458977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&lt;iframe&gt;</a:t>
            </a:r>
            <a:br>
              <a:rPr lang="en-US" dirty="0" smtClean="0"/>
            </a:br>
            <a:r>
              <a:rPr lang="en-US" dirty="0" smtClean="0"/>
              <a:t>Attributes</a:t>
            </a:r>
            <a:endParaRPr lang="en-US" dirty="0"/>
          </a:p>
        </p:txBody>
      </p:sp>
      <p:sp>
        <p:nvSpPr>
          <p:cNvPr id="3" name="Content Placeholder 2"/>
          <p:cNvSpPr>
            <a:spLocks noGrp="1"/>
          </p:cNvSpPr>
          <p:nvPr>
            <p:ph idx="1"/>
          </p:nvPr>
        </p:nvSpPr>
        <p:spPr/>
        <p:txBody>
          <a:bodyPr/>
          <a:lstStyle/>
          <a:p>
            <a:r>
              <a:rPr lang="en-US" dirty="0"/>
              <a:t>The &lt;iframe&gt; tag specifies an inline frame</a:t>
            </a:r>
            <a:r>
              <a:rPr lang="en-US" dirty="0" smtClean="0"/>
              <a:t>.</a:t>
            </a:r>
            <a:endParaRPr lang="en-US" dirty="0"/>
          </a:p>
          <a:p>
            <a:r>
              <a:rPr lang="en-US" dirty="0"/>
              <a:t>An inline frame is used to embed another document within the current HTML document</a:t>
            </a:r>
            <a:r>
              <a:rPr lang="en-US" dirty="0" smtClean="0"/>
              <a:t>.</a:t>
            </a:r>
          </a:p>
          <a:p>
            <a:r>
              <a:rPr lang="en-US" dirty="0"/>
              <a:t>The &lt;iframe&gt; </a:t>
            </a:r>
            <a:r>
              <a:rPr lang="en-US" dirty="0" smtClean="0"/>
              <a:t>tag </a:t>
            </a:r>
            <a:r>
              <a:rPr lang="en-US" dirty="0"/>
              <a:t>supports the Global Attributes in HTML</a:t>
            </a:r>
            <a:r>
              <a:rPr lang="en-US" dirty="0" smtClean="0"/>
              <a:t>.</a:t>
            </a:r>
          </a:p>
          <a:p>
            <a:r>
              <a:rPr lang="en-US" dirty="0"/>
              <a:t>The &lt;iframe&gt; tag also supports the </a:t>
            </a:r>
            <a:r>
              <a:rPr lang="en-US" dirty="0" smtClean="0"/>
              <a:t>Event </a:t>
            </a:r>
            <a:r>
              <a:rPr lang="en-US" dirty="0"/>
              <a:t>Attributes in HTML.</a:t>
            </a:r>
          </a:p>
        </p:txBody>
      </p:sp>
    </p:spTree>
    <p:extLst>
      <p:ext uri="{BB962C8B-B14F-4D97-AF65-F5344CB8AC3E}">
        <p14:creationId xmlns:p14="http://schemas.microsoft.com/office/powerpoint/2010/main" val="3672937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&lt;iframe&gt;</a:t>
            </a:r>
            <a:br>
              <a:rPr lang="en-US" dirty="0" smtClean="0"/>
            </a:br>
            <a:r>
              <a:rPr lang="en-US" dirty="0" smtClean="0"/>
              <a:t>Attributes</a:t>
            </a:r>
            <a:endParaRPr lang="en-US" dirty="0"/>
          </a:p>
        </p:txBody>
      </p:sp>
      <p:sp>
        <p:nvSpPr>
          <p:cNvPr id="3" name="Content Placeholder 2"/>
          <p:cNvSpPr>
            <a:spLocks noGrp="1"/>
          </p:cNvSpPr>
          <p:nvPr>
            <p:ph idx="1"/>
          </p:nvPr>
        </p:nvSpPr>
        <p:spPr/>
        <p:txBody>
          <a:bodyPr/>
          <a:lstStyle/>
          <a:p>
            <a:r>
              <a:rPr lang="en-US" dirty="0" smtClean="0"/>
              <a:t>&lt;Iframe&gt; has the following attributes:</a:t>
            </a:r>
          </a:p>
          <a:p>
            <a:r>
              <a:rPr lang="en-US" dirty="0" smtClean="0"/>
              <a:t>Name</a:t>
            </a:r>
          </a:p>
          <a:p>
            <a:r>
              <a:rPr lang="en-US" dirty="0" err="1" smtClean="0"/>
              <a:t>Src</a:t>
            </a:r>
            <a:r>
              <a:rPr lang="en-US" dirty="0" smtClean="0"/>
              <a:t> </a:t>
            </a:r>
          </a:p>
          <a:p>
            <a:r>
              <a:rPr lang="en-US" dirty="0" smtClean="0"/>
              <a:t>Height (in pixels)</a:t>
            </a:r>
          </a:p>
          <a:p>
            <a:r>
              <a:rPr lang="en-US" dirty="0" smtClean="0"/>
              <a:t>width</a:t>
            </a:r>
            <a:endParaRPr lang="en-US" dirty="0"/>
          </a:p>
        </p:txBody>
      </p:sp>
    </p:spTree>
    <p:extLst>
      <p:ext uri="{BB962C8B-B14F-4D97-AF65-F5344CB8AC3E}">
        <p14:creationId xmlns:p14="http://schemas.microsoft.com/office/powerpoint/2010/main" val="3061985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Example </a:t>
            </a:r>
            <a:endParaRPr lang="en-US"/>
          </a:p>
        </p:txBody>
      </p:sp>
      <p:pic>
        <p:nvPicPr>
          <p:cNvPr id="6" name="Content Placeholder 5"/>
          <p:cNvPicPr>
            <a:picLocks noGrp="1" noChangeAspect="1"/>
          </p:cNvPicPr>
          <p:nvPr>
            <p:ph sz="half" idx="1"/>
          </p:nvPr>
        </p:nvPicPr>
        <p:blipFill>
          <a:blip r:embed="rId2"/>
          <a:stretch>
            <a:fillRect/>
          </a:stretch>
        </p:blipFill>
        <p:spPr>
          <a:xfrm>
            <a:off x="112490" y="1610059"/>
            <a:ext cx="7585238" cy="3631658"/>
          </a:xfrm>
          <a:prstGeom prst="rect">
            <a:avLst/>
          </a:prstGeom>
        </p:spPr>
      </p:pic>
      <p:pic>
        <p:nvPicPr>
          <p:cNvPr id="7" name="Content Placeholder 6"/>
          <p:cNvPicPr>
            <a:picLocks noGrp="1" noChangeAspect="1"/>
          </p:cNvPicPr>
          <p:nvPr>
            <p:ph sz="half" idx="2"/>
          </p:nvPr>
        </p:nvPicPr>
        <p:blipFill>
          <a:blip r:embed="rId3"/>
          <a:stretch>
            <a:fillRect/>
          </a:stretch>
        </p:blipFill>
        <p:spPr>
          <a:xfrm>
            <a:off x="7697728" y="789153"/>
            <a:ext cx="4345619" cy="5387810"/>
          </a:xfrm>
          <a:prstGeom prst="rect">
            <a:avLst/>
          </a:prstGeom>
        </p:spPr>
      </p:pic>
    </p:spTree>
    <p:extLst>
      <p:ext uri="{BB962C8B-B14F-4D97-AF65-F5344CB8AC3E}">
        <p14:creationId xmlns:p14="http://schemas.microsoft.com/office/powerpoint/2010/main" val="2064006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half" idx="1"/>
          </p:nvPr>
        </p:nvSpPr>
        <p:spPr/>
        <p:txBody>
          <a:bodyPr/>
          <a:lstStyle/>
          <a:p>
            <a:r>
              <a:rPr lang="en-US" dirty="0"/>
              <a:t>&lt;iframe </a:t>
            </a:r>
            <a:r>
              <a:rPr lang="en-US" dirty="0" err="1"/>
              <a:t>src</a:t>
            </a:r>
            <a:r>
              <a:rPr lang="en-US" dirty="0"/>
              <a:t>="p6.html" width="200" height="100%"&gt; &lt;/iframe&gt;</a:t>
            </a:r>
          </a:p>
          <a:p>
            <a:r>
              <a:rPr lang="en-US" dirty="0"/>
              <a:t>&lt;iframe </a:t>
            </a:r>
            <a:r>
              <a:rPr lang="en-US" dirty="0" err="1"/>
              <a:t>src</a:t>
            </a:r>
            <a:r>
              <a:rPr lang="en-US" dirty="0"/>
              <a:t>="p7.html" width="600" height="100%"&gt; &lt;/iframe&gt;</a:t>
            </a:r>
          </a:p>
          <a:p>
            <a:r>
              <a:rPr lang="en-US" dirty="0"/>
              <a:t>&lt;iframe </a:t>
            </a:r>
            <a:r>
              <a:rPr lang="en-US" dirty="0" err="1"/>
              <a:t>src</a:t>
            </a:r>
            <a:r>
              <a:rPr lang="en-US" dirty="0"/>
              <a:t>="p8.html" width="200" height="100%"&gt;</a:t>
            </a:r>
          </a:p>
          <a:p>
            <a:r>
              <a:rPr lang="en-US" dirty="0"/>
              <a:t>&lt;/iframe&gt;</a:t>
            </a:r>
          </a:p>
        </p:txBody>
      </p:sp>
      <p:pic>
        <p:nvPicPr>
          <p:cNvPr id="5" name="Content Placeholder 4"/>
          <p:cNvPicPr>
            <a:picLocks noGrp="1" noChangeAspect="1"/>
          </p:cNvPicPr>
          <p:nvPr>
            <p:ph sz="half" idx="2"/>
          </p:nvPr>
        </p:nvPicPr>
        <p:blipFill>
          <a:blip r:embed="rId2"/>
          <a:stretch>
            <a:fillRect/>
          </a:stretch>
        </p:blipFill>
        <p:spPr>
          <a:xfrm>
            <a:off x="6172200" y="1881098"/>
            <a:ext cx="5181600" cy="4240391"/>
          </a:xfrm>
          <a:prstGeom prst="rect">
            <a:avLst/>
          </a:prstGeom>
        </p:spPr>
      </p:pic>
    </p:spTree>
    <p:extLst>
      <p:ext uri="{BB962C8B-B14F-4D97-AF65-F5344CB8AC3E}">
        <p14:creationId xmlns:p14="http://schemas.microsoft.com/office/powerpoint/2010/main" val="3642197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Nested iframe</a:t>
            </a:r>
            <a:endParaRPr lang="en-US" dirty="0"/>
          </a:p>
        </p:txBody>
      </p:sp>
      <p:pic>
        <p:nvPicPr>
          <p:cNvPr id="7" name="Content Placeholder 6"/>
          <p:cNvPicPr>
            <a:picLocks noGrp="1" noChangeAspect="1"/>
          </p:cNvPicPr>
          <p:nvPr>
            <p:ph idx="1"/>
          </p:nvPr>
        </p:nvPicPr>
        <p:blipFill>
          <a:blip r:embed="rId2"/>
          <a:stretch>
            <a:fillRect/>
          </a:stretch>
        </p:blipFill>
        <p:spPr>
          <a:xfrm>
            <a:off x="2452687" y="1886744"/>
            <a:ext cx="7286625" cy="4229100"/>
          </a:xfrm>
          <a:prstGeom prst="rect">
            <a:avLst/>
          </a:prstGeom>
        </p:spPr>
      </p:pic>
    </p:spTree>
    <p:extLst>
      <p:ext uri="{BB962C8B-B14F-4D97-AF65-F5344CB8AC3E}">
        <p14:creationId xmlns:p14="http://schemas.microsoft.com/office/powerpoint/2010/main" val="3445805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iframe</a:t>
            </a:r>
          </a:p>
        </p:txBody>
      </p:sp>
      <p:pic>
        <p:nvPicPr>
          <p:cNvPr id="4" name="Content Placeholder 3"/>
          <p:cNvPicPr>
            <a:picLocks noGrp="1" noChangeAspect="1"/>
          </p:cNvPicPr>
          <p:nvPr>
            <p:ph idx="1"/>
          </p:nvPr>
        </p:nvPicPr>
        <p:blipFill>
          <a:blip r:embed="rId2"/>
          <a:stretch>
            <a:fillRect/>
          </a:stretch>
        </p:blipFill>
        <p:spPr>
          <a:xfrm>
            <a:off x="3195108" y="1825625"/>
            <a:ext cx="5801784" cy="4351338"/>
          </a:xfrm>
          <a:prstGeom prst="rect">
            <a:avLst/>
          </a:prstGeom>
        </p:spPr>
      </p:pic>
    </p:spTree>
    <p:extLst>
      <p:ext uri="{BB962C8B-B14F-4D97-AF65-F5344CB8AC3E}">
        <p14:creationId xmlns:p14="http://schemas.microsoft.com/office/powerpoint/2010/main" val="4232851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more HTML tags</a:t>
            </a:r>
            <a:endParaRPr lang="en-US" dirty="0"/>
          </a:p>
        </p:txBody>
      </p:sp>
      <p:sp>
        <p:nvSpPr>
          <p:cNvPr id="3" name="Content Placeholder 2"/>
          <p:cNvSpPr>
            <a:spLocks noGrp="1"/>
          </p:cNvSpPr>
          <p:nvPr>
            <p:ph idx="1"/>
          </p:nvPr>
        </p:nvSpPr>
        <p:spPr/>
        <p:txBody>
          <a:bodyPr/>
          <a:lstStyle/>
          <a:p>
            <a:r>
              <a:rPr lang="en-US" dirty="0" smtClean="0"/>
              <a:t>Comments </a:t>
            </a:r>
          </a:p>
          <a:p>
            <a:r>
              <a:rPr lang="en-US" dirty="0" smtClean="0"/>
              <a:t>Metadata</a:t>
            </a:r>
          </a:p>
          <a:p>
            <a:endParaRPr lang="en-US" dirty="0"/>
          </a:p>
        </p:txBody>
      </p:sp>
    </p:spTree>
    <p:extLst>
      <p:ext uri="{BB962C8B-B14F-4D97-AF65-F5344CB8AC3E}">
        <p14:creationId xmlns:p14="http://schemas.microsoft.com/office/powerpoint/2010/main" val="2926945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Comments</a:t>
            </a:r>
            <a:endParaRPr lang="en-US" dirty="0"/>
          </a:p>
        </p:txBody>
      </p:sp>
      <p:sp>
        <p:nvSpPr>
          <p:cNvPr id="3" name="Content Placeholder 2"/>
          <p:cNvSpPr>
            <a:spLocks noGrp="1"/>
          </p:cNvSpPr>
          <p:nvPr>
            <p:ph idx="1"/>
          </p:nvPr>
        </p:nvSpPr>
        <p:spPr/>
        <p:txBody>
          <a:bodyPr/>
          <a:lstStyle/>
          <a:p>
            <a:r>
              <a:rPr lang="en-US" dirty="0"/>
              <a:t>Comment is a piece of code which is ignored by any web browser. It is a good practice to add comments into your HTML code, especially in complex documents, to indicate sections of a document, and any other notes to anyone looking at the code. Comments help you and others understand your code and increases code readability.</a:t>
            </a:r>
          </a:p>
          <a:p>
            <a:r>
              <a:rPr lang="en-US" dirty="0"/>
              <a:t>HTML comments are placed in between </a:t>
            </a:r>
            <a:r>
              <a:rPr lang="en-US" b="1" dirty="0"/>
              <a:t>&lt;!-- ... --&gt;</a:t>
            </a:r>
            <a:r>
              <a:rPr lang="en-US" dirty="0"/>
              <a:t> tags. So, any content placed with-in &lt;!-- ... --&gt; tags will be treated as comment and will be completely ignored by the browser.</a:t>
            </a:r>
          </a:p>
          <a:p>
            <a:endParaRPr lang="en-US" dirty="0"/>
          </a:p>
        </p:txBody>
      </p:sp>
    </p:spTree>
    <p:extLst>
      <p:ext uri="{BB962C8B-B14F-4D97-AF65-F5344CB8AC3E}">
        <p14:creationId xmlns:p14="http://schemas.microsoft.com/office/powerpoint/2010/main" val="1154153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&lt;meta&gt;</a:t>
            </a:r>
            <a:r>
              <a:rPr lang="en-US" dirty="0"/>
              <a:t> tag</a:t>
            </a:r>
          </a:p>
        </p:txBody>
      </p:sp>
      <p:sp>
        <p:nvSpPr>
          <p:cNvPr id="3" name="Content Placeholder 2"/>
          <p:cNvSpPr>
            <a:spLocks noGrp="1"/>
          </p:cNvSpPr>
          <p:nvPr>
            <p:ph idx="1"/>
          </p:nvPr>
        </p:nvSpPr>
        <p:spPr/>
        <p:txBody>
          <a:bodyPr>
            <a:normAutofit lnSpcReduction="10000"/>
          </a:bodyPr>
          <a:lstStyle/>
          <a:p>
            <a:r>
              <a:rPr lang="en-US" dirty="0"/>
              <a:t>The </a:t>
            </a:r>
            <a:r>
              <a:rPr lang="en-US" b="1" dirty="0"/>
              <a:t>&lt;meta&gt;</a:t>
            </a:r>
            <a:r>
              <a:rPr lang="en-US" dirty="0"/>
              <a:t> tag is used to provide such additional </a:t>
            </a:r>
            <a:r>
              <a:rPr lang="en-US" dirty="0" smtClean="0"/>
              <a:t>information and important keywords about the document. </a:t>
            </a:r>
            <a:r>
              <a:rPr lang="en-US" dirty="0"/>
              <a:t>This tag is an empty element and so does not have a closing tag but it carries information within its attributes</a:t>
            </a:r>
            <a:r>
              <a:rPr lang="en-US" dirty="0" smtClean="0"/>
              <a:t>. </a:t>
            </a:r>
          </a:p>
          <a:p>
            <a:r>
              <a:rPr lang="en-US" dirty="0"/>
              <a:t>You can include one or more meta tags in your document based on what information you want to keep in your document but in general, meta tags do not impact physical appearance of the document so from appearance point of view, it does not matter if you include them or not</a:t>
            </a:r>
            <a:r>
              <a:rPr lang="en-US" dirty="0" smtClean="0"/>
              <a:t>.</a:t>
            </a:r>
          </a:p>
          <a:p>
            <a:r>
              <a:rPr lang="en-US" dirty="0"/>
              <a:t>these keywords are used by the search engines while indexing your webpage for searching purpose.</a:t>
            </a:r>
          </a:p>
        </p:txBody>
      </p:sp>
    </p:spTree>
    <p:extLst>
      <p:ext uri="{BB962C8B-B14F-4D97-AF65-F5344CB8AC3E}">
        <p14:creationId xmlns:p14="http://schemas.microsoft.com/office/powerpoint/2010/main" val="4240136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&lt;meta&gt;</a:t>
            </a:r>
            <a:r>
              <a:rPr lang="en-US" dirty="0"/>
              <a:t> tag</a:t>
            </a:r>
          </a:p>
        </p:txBody>
      </p:sp>
      <p:sp>
        <p:nvSpPr>
          <p:cNvPr id="3" name="Content Placeholder 2"/>
          <p:cNvSpPr>
            <a:spLocks noGrp="1"/>
          </p:cNvSpPr>
          <p:nvPr>
            <p:ph idx="1"/>
          </p:nvPr>
        </p:nvSpPr>
        <p:spPr/>
        <p:txBody>
          <a:bodyPr>
            <a:normAutofit lnSpcReduction="10000"/>
          </a:bodyPr>
          <a:lstStyle/>
          <a:p>
            <a:r>
              <a:rPr lang="en-US" dirty="0" smtClean="0"/>
              <a:t>The metadata is added </a:t>
            </a:r>
            <a:r>
              <a:rPr lang="en-US" dirty="0"/>
              <a:t>to your web pages by placing &lt;meta&gt; tags inside the header of the document which is represented by </a:t>
            </a:r>
            <a:r>
              <a:rPr lang="en-US" b="1" dirty="0"/>
              <a:t>&lt;head&gt;</a:t>
            </a:r>
            <a:r>
              <a:rPr lang="en-US" dirty="0"/>
              <a:t> and </a:t>
            </a:r>
            <a:r>
              <a:rPr lang="en-US" b="1" dirty="0"/>
              <a:t>&lt;/head&gt;</a:t>
            </a:r>
            <a:r>
              <a:rPr lang="en-US" dirty="0"/>
              <a:t> tags</a:t>
            </a:r>
            <a:r>
              <a:rPr lang="en-US" dirty="0" smtClean="0"/>
              <a:t>.</a:t>
            </a:r>
          </a:p>
          <a:p>
            <a:r>
              <a:rPr lang="en-US" dirty="0" smtClean="0"/>
              <a:t> </a:t>
            </a:r>
            <a:r>
              <a:rPr lang="en-US" dirty="0"/>
              <a:t>A meta tag can have following attributes in addition to core </a:t>
            </a:r>
            <a:r>
              <a:rPr lang="en-US" dirty="0" smtClean="0"/>
              <a:t>attributes</a:t>
            </a:r>
          </a:p>
          <a:p>
            <a:r>
              <a:rPr lang="en-US" b="1" dirty="0" smtClean="0"/>
              <a:t>Name: </a:t>
            </a:r>
            <a:r>
              <a:rPr lang="en-US" dirty="0" smtClean="0"/>
              <a:t>Name </a:t>
            </a:r>
            <a:r>
              <a:rPr lang="en-US" dirty="0"/>
              <a:t>for the property. Can be anything. Examples include, keywords, description, author, revised, generator etc</a:t>
            </a:r>
            <a:r>
              <a:rPr lang="en-US" dirty="0" smtClean="0"/>
              <a:t>.</a:t>
            </a:r>
          </a:p>
          <a:p>
            <a:r>
              <a:rPr lang="en-US" b="1" dirty="0" smtClean="0"/>
              <a:t>Content: </a:t>
            </a:r>
            <a:r>
              <a:rPr lang="en-US" dirty="0" smtClean="0"/>
              <a:t>Specifies </a:t>
            </a:r>
            <a:r>
              <a:rPr lang="en-US" dirty="0"/>
              <a:t>the property's value</a:t>
            </a:r>
            <a:r>
              <a:rPr lang="en-US" dirty="0" smtClean="0"/>
              <a:t>.</a:t>
            </a:r>
          </a:p>
          <a:p>
            <a:r>
              <a:rPr lang="en-US" b="1" dirty="0" smtClean="0"/>
              <a:t>Scheme: </a:t>
            </a:r>
            <a:r>
              <a:rPr lang="en-US" dirty="0" smtClean="0"/>
              <a:t>Specifies </a:t>
            </a:r>
            <a:r>
              <a:rPr lang="en-US" dirty="0"/>
              <a:t>a scheme to interpret the property's value (as declared in the content attribute).</a:t>
            </a:r>
          </a:p>
          <a:p>
            <a:endParaRPr lang="en-US" dirty="0"/>
          </a:p>
          <a:p>
            <a:endParaRPr lang="en-US" dirty="0"/>
          </a:p>
          <a:p>
            <a:endParaRPr lang="en-US" dirty="0"/>
          </a:p>
        </p:txBody>
      </p:sp>
    </p:spTree>
    <p:extLst>
      <p:ext uri="{BB962C8B-B14F-4D97-AF65-F5344CB8AC3E}">
        <p14:creationId xmlns:p14="http://schemas.microsoft.com/office/powerpoint/2010/main" val="468478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&lt;meta&gt;</a:t>
            </a:r>
            <a:r>
              <a:rPr lang="en-US" dirty="0"/>
              <a:t> tag</a:t>
            </a:r>
          </a:p>
        </p:txBody>
      </p:sp>
      <p:sp>
        <p:nvSpPr>
          <p:cNvPr id="3" name="Content Placeholder 2"/>
          <p:cNvSpPr>
            <a:spLocks noGrp="1"/>
          </p:cNvSpPr>
          <p:nvPr>
            <p:ph idx="1"/>
          </p:nvPr>
        </p:nvSpPr>
        <p:spPr>
          <a:xfrm>
            <a:off x="569626" y="1825625"/>
            <a:ext cx="10972800" cy="4351338"/>
          </a:xfrm>
        </p:spPr>
        <p:txBody>
          <a:bodyPr/>
          <a:lstStyle/>
          <a:p>
            <a:pPr marL="0" indent="0">
              <a:buNone/>
            </a:pPr>
            <a:r>
              <a:rPr lang="en-US" dirty="0"/>
              <a:t> &lt;head&gt;</a:t>
            </a:r>
          </a:p>
          <a:p>
            <a:pPr marL="0" indent="0">
              <a:buNone/>
            </a:pPr>
            <a:r>
              <a:rPr lang="en-US" dirty="0"/>
              <a:t>      &lt;title&gt;Meta Tags Example&lt;/title&gt;</a:t>
            </a:r>
          </a:p>
          <a:p>
            <a:pPr marL="0" indent="0">
              <a:buNone/>
            </a:pPr>
            <a:r>
              <a:rPr lang="en-US" dirty="0"/>
              <a:t>      &lt;meta name = "keywords" content = "HTML, Meta Tags, Metadata" </a:t>
            </a:r>
            <a:r>
              <a:rPr lang="en-US" dirty="0" smtClean="0"/>
              <a:t>/&gt;</a:t>
            </a:r>
          </a:p>
          <a:p>
            <a:pPr marL="0" indent="0">
              <a:buNone/>
            </a:pPr>
            <a:r>
              <a:rPr lang="en-US" dirty="0"/>
              <a:t> </a:t>
            </a:r>
            <a:r>
              <a:rPr lang="en-US" dirty="0" smtClean="0"/>
              <a:t>     &lt;</a:t>
            </a:r>
            <a:r>
              <a:rPr lang="en-US" dirty="0"/>
              <a:t>meta name = </a:t>
            </a:r>
            <a:r>
              <a:rPr lang="en-US" dirty="0" smtClean="0"/>
              <a:t>“description" </a:t>
            </a:r>
            <a:r>
              <a:rPr lang="en-US" dirty="0"/>
              <a:t>content = </a:t>
            </a:r>
            <a:r>
              <a:rPr lang="en-US" dirty="0" smtClean="0"/>
              <a:t>“All about HTML Tags" </a:t>
            </a:r>
            <a:r>
              <a:rPr lang="en-US" dirty="0"/>
              <a:t>/&gt;</a:t>
            </a:r>
          </a:p>
          <a:p>
            <a:pPr marL="0" indent="0">
              <a:buNone/>
            </a:pPr>
            <a:r>
              <a:rPr lang="en-US" dirty="0" smtClean="0"/>
              <a:t>      &lt;</a:t>
            </a:r>
            <a:r>
              <a:rPr lang="en-US" dirty="0"/>
              <a:t>meta name = </a:t>
            </a:r>
            <a:r>
              <a:rPr lang="en-US" dirty="0" smtClean="0"/>
              <a:t>“author" </a:t>
            </a:r>
            <a:r>
              <a:rPr lang="en-US" dirty="0"/>
              <a:t>content = </a:t>
            </a:r>
            <a:r>
              <a:rPr lang="en-US" dirty="0" smtClean="0"/>
              <a:t>“</a:t>
            </a:r>
            <a:r>
              <a:rPr lang="en-US" dirty="0" err="1" smtClean="0"/>
              <a:t>Nosheen</a:t>
            </a:r>
            <a:r>
              <a:rPr lang="en-US" dirty="0" smtClean="0"/>
              <a:t>" </a:t>
            </a:r>
            <a:r>
              <a:rPr lang="en-US" dirty="0"/>
              <a:t>/&gt;</a:t>
            </a:r>
          </a:p>
          <a:p>
            <a:pPr marL="0" indent="0">
              <a:buNone/>
            </a:pPr>
            <a:r>
              <a:rPr lang="en-US" dirty="0" smtClean="0"/>
              <a:t>   </a:t>
            </a:r>
            <a:r>
              <a:rPr lang="en-US" dirty="0"/>
              <a:t>&lt;/head&gt;</a:t>
            </a:r>
          </a:p>
        </p:txBody>
      </p:sp>
    </p:spTree>
    <p:extLst>
      <p:ext uri="{BB962C8B-B14F-4D97-AF65-F5344CB8AC3E}">
        <p14:creationId xmlns:p14="http://schemas.microsoft.com/office/powerpoint/2010/main" val="10315712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TotalTime>
  <Words>978</Words>
  <Application>Microsoft Office PowerPoint</Application>
  <PresentationFormat>Widescreen</PresentationFormat>
  <Paragraphs>117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HTML FRAMES</vt:lpstr>
      <vt:lpstr>Frame</vt:lpstr>
      <vt:lpstr>Frame </vt:lpstr>
      <vt:lpstr>Frame Attributes</vt:lpstr>
      <vt:lpstr>Example </vt:lpstr>
      <vt:lpstr>&lt;FRAME&gt; Tag </vt:lpstr>
      <vt:lpstr>&lt;FRAME&gt; Tag Example:</vt:lpstr>
      <vt:lpstr>TARGET Frame </vt:lpstr>
      <vt:lpstr>Nested Frames </vt:lpstr>
      <vt:lpstr>Disadvantages of Frames </vt:lpstr>
      <vt:lpstr>Important</vt:lpstr>
      <vt:lpstr>&lt;iframe&gt; Attributes</vt:lpstr>
      <vt:lpstr>&lt;iframe&gt; Attributes</vt:lpstr>
      <vt:lpstr>Example </vt:lpstr>
      <vt:lpstr>Example</vt:lpstr>
      <vt:lpstr>Nested iframe</vt:lpstr>
      <vt:lpstr>Nested iframe</vt:lpstr>
      <vt:lpstr>Some more HTML tags</vt:lpstr>
      <vt:lpstr>Comments</vt:lpstr>
      <vt:lpstr>&lt;meta&gt; tag</vt:lpstr>
      <vt:lpstr>&lt;meta&gt; tag</vt:lpstr>
      <vt:lpstr>&lt;meta&gt; tag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FRAMES</dc:title>
  <dc:creator>User</dc:creator>
  <cp:lastModifiedBy>User</cp:lastModifiedBy>
  <cp:revision>10</cp:revision>
  <dcterms:created xsi:type="dcterms:W3CDTF">2021-04-18T10:38:21Z</dcterms:created>
  <dcterms:modified xsi:type="dcterms:W3CDTF">2021-04-21T09:04:53Z</dcterms:modified>
</cp:coreProperties>
</file>