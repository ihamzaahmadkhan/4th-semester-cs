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59" r:id="rId10"/>
    <p:sldId id="261" r:id="rId11"/>
    <p:sldId id="275" r:id="rId12"/>
    <p:sldId id="263" r:id="rId13"/>
    <p:sldId id="282" r:id="rId14"/>
    <p:sldId id="264" r:id="rId15"/>
    <p:sldId id="265" r:id="rId16"/>
    <p:sldId id="283" r:id="rId17"/>
    <p:sldId id="284" r:id="rId18"/>
    <p:sldId id="289" r:id="rId19"/>
    <p:sldId id="266" r:id="rId20"/>
    <p:sldId id="285" r:id="rId21"/>
    <p:sldId id="286" r:id="rId22"/>
    <p:sldId id="287" r:id="rId23"/>
    <p:sldId id="288" r:id="rId24"/>
    <p:sldId id="290" r:id="rId25"/>
    <p:sldId id="291" r:id="rId26"/>
    <p:sldId id="292" r:id="rId27"/>
    <p:sldId id="293" r:id="rId28"/>
    <p:sldId id="294" r:id="rId29"/>
    <p:sldId id="268" r:id="rId30"/>
    <p:sldId id="295" r:id="rId31"/>
    <p:sldId id="297" r:id="rId32"/>
    <p:sldId id="302" r:id="rId33"/>
    <p:sldId id="303" r:id="rId34"/>
    <p:sldId id="304" r:id="rId35"/>
    <p:sldId id="305" r:id="rId36"/>
    <p:sldId id="322" r:id="rId37"/>
    <p:sldId id="323" r:id="rId38"/>
    <p:sldId id="324" r:id="rId39"/>
    <p:sldId id="325" r:id="rId40"/>
    <p:sldId id="326" r:id="rId41"/>
    <p:sldId id="306" r:id="rId42"/>
    <p:sldId id="307" r:id="rId43"/>
    <p:sldId id="296" r:id="rId44"/>
    <p:sldId id="308" r:id="rId45"/>
    <p:sldId id="311" r:id="rId46"/>
    <p:sldId id="309" r:id="rId47"/>
    <p:sldId id="310" r:id="rId48"/>
    <p:sldId id="314" r:id="rId49"/>
    <p:sldId id="312" r:id="rId50"/>
    <p:sldId id="313" r:id="rId51"/>
    <p:sldId id="316" r:id="rId52"/>
    <p:sldId id="315" r:id="rId53"/>
    <p:sldId id="318" r:id="rId54"/>
    <p:sldId id="317" r:id="rId55"/>
    <p:sldId id="319" r:id="rId56"/>
    <p:sldId id="320" r:id="rId57"/>
    <p:sldId id="321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2404534"/>
            <a:ext cx="8446689" cy="1646302"/>
          </a:xfrm>
        </p:spPr>
        <p:txBody>
          <a:bodyPr/>
          <a:lstStyle/>
          <a:p>
            <a:r>
              <a:rPr lang="en-US" u="sng" dirty="0"/>
              <a:t>SQL SELECT Statement		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Muhammad Sadeequllah</a:t>
            </a:r>
          </a:p>
        </p:txBody>
      </p:sp>
    </p:spTree>
    <p:extLst>
      <p:ext uri="{BB962C8B-B14F-4D97-AF65-F5344CB8AC3E}">
        <p14:creationId xmlns:p14="http://schemas.microsoft.com/office/powerpoint/2010/main" val="407962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Statement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	[column names’ list]</a:t>
            </a:r>
          </a:p>
          <a:p>
            <a:pPr marL="0" indent="0">
              <a:buNone/>
            </a:pPr>
            <a:r>
              <a:rPr lang="en-US" dirty="0"/>
              <a:t>FROM table name</a:t>
            </a:r>
          </a:p>
          <a:p>
            <a:pPr marL="0" indent="0">
              <a:buNone/>
            </a:pPr>
            <a:r>
              <a:rPr lang="en-US" dirty="0"/>
              <a:t>[WHERE predicate/condition]</a:t>
            </a:r>
          </a:p>
        </p:txBody>
      </p:sp>
    </p:spTree>
    <p:extLst>
      <p:ext uri="{BB962C8B-B14F-4D97-AF65-F5344CB8AC3E}">
        <p14:creationId xmlns:p14="http://schemas.microsoft.com/office/powerpoint/2010/main" val="155166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</a:t>
            </a:r>
            <a:r>
              <a:rPr lang="en-US" dirty="0" err="1"/>
              <a:t>au_fname</a:t>
            </a:r>
            <a:r>
              <a:rPr lang="en-US" dirty="0"/>
              <a:t>, </a:t>
            </a:r>
            <a:r>
              <a:rPr lang="en-US" dirty="0" err="1"/>
              <a:t>au_lname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89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</a:t>
            </a:r>
            <a:r>
              <a:rPr lang="en-US" dirty="0" err="1"/>
              <a:t>au_fname</a:t>
            </a:r>
            <a:r>
              <a:rPr lang="en-US" dirty="0"/>
              <a:t>, </a:t>
            </a:r>
            <a:r>
              <a:rPr lang="en-US" dirty="0" err="1"/>
              <a:t>au_lname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6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</a:t>
            </a:r>
            <a:r>
              <a:rPr lang="en-US" dirty="0" err="1"/>
              <a:t>au_fname</a:t>
            </a:r>
            <a:r>
              <a:rPr lang="en-US" dirty="0"/>
              <a:t>, </a:t>
            </a:r>
            <a:r>
              <a:rPr lang="en-US" dirty="0" err="1"/>
              <a:t>au_lname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2" y="3375918"/>
            <a:ext cx="20383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all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Sales table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93" y="2717575"/>
            <a:ext cx="61531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1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all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	</a:t>
            </a:r>
            <a:r>
              <a:rPr lang="en-US" dirty="0" err="1"/>
              <a:t>stor_id</a:t>
            </a:r>
            <a:r>
              <a:rPr lang="en-US" dirty="0"/>
              <a:t>, </a:t>
            </a:r>
            <a:r>
              <a:rPr lang="en-US" dirty="0" err="1"/>
              <a:t>ord_num</a:t>
            </a:r>
            <a:r>
              <a:rPr lang="en-US" dirty="0"/>
              <a:t>, </a:t>
            </a:r>
            <a:r>
              <a:rPr lang="en-US" dirty="0" err="1"/>
              <a:t>ord_date</a:t>
            </a:r>
            <a:r>
              <a:rPr lang="en-US" dirty="0"/>
              <a:t>, </a:t>
            </a:r>
            <a:r>
              <a:rPr lang="en-US" dirty="0" err="1"/>
              <a:t>qty</a:t>
            </a:r>
            <a:r>
              <a:rPr lang="en-US" dirty="0"/>
              <a:t>, </a:t>
            </a:r>
            <a:r>
              <a:rPr lang="en-US" dirty="0" err="1"/>
              <a:t>payterms</a:t>
            </a:r>
            <a:r>
              <a:rPr lang="en-US" dirty="0"/>
              <a:t>, </a:t>
            </a:r>
            <a:r>
              <a:rPr lang="en-US" dirty="0" err="1"/>
              <a:t>title_id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sales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93" y="2717575"/>
            <a:ext cx="61531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9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all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	</a:t>
            </a:r>
            <a:r>
              <a:rPr lang="en-US" dirty="0" err="1"/>
              <a:t>stor_id</a:t>
            </a:r>
            <a:r>
              <a:rPr lang="en-US" dirty="0"/>
              <a:t>, </a:t>
            </a:r>
            <a:r>
              <a:rPr lang="en-US" dirty="0" err="1"/>
              <a:t>ord_num</a:t>
            </a:r>
            <a:r>
              <a:rPr lang="en-US" dirty="0"/>
              <a:t>, </a:t>
            </a:r>
            <a:r>
              <a:rPr lang="en-US" dirty="0" err="1"/>
              <a:t>ord_date</a:t>
            </a:r>
            <a:r>
              <a:rPr lang="en-US" dirty="0"/>
              <a:t>, </a:t>
            </a:r>
            <a:r>
              <a:rPr lang="en-US" dirty="0" err="1"/>
              <a:t>qty</a:t>
            </a:r>
            <a:r>
              <a:rPr lang="en-US" dirty="0"/>
              <a:t>, </a:t>
            </a:r>
            <a:r>
              <a:rPr lang="en-US" dirty="0" err="1"/>
              <a:t>payterms</a:t>
            </a:r>
            <a:r>
              <a:rPr lang="en-US" dirty="0"/>
              <a:t>, </a:t>
            </a:r>
            <a:r>
              <a:rPr lang="en-US" dirty="0" err="1"/>
              <a:t>title_id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sales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*</a:t>
            </a:r>
          </a:p>
          <a:p>
            <a:pPr marL="0" indent="0">
              <a:buNone/>
            </a:pPr>
            <a:r>
              <a:rPr lang="en-US" dirty="0"/>
              <a:t>FROM     sales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93" y="2717575"/>
            <a:ext cx="61531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9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Query (selecting all columns)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	</a:t>
            </a:r>
            <a:r>
              <a:rPr lang="en-US" dirty="0" err="1"/>
              <a:t>stor_id</a:t>
            </a:r>
            <a:r>
              <a:rPr lang="en-US" dirty="0"/>
              <a:t>, </a:t>
            </a:r>
            <a:r>
              <a:rPr lang="en-US" dirty="0" err="1"/>
              <a:t>ord_num</a:t>
            </a:r>
            <a:r>
              <a:rPr lang="en-US" dirty="0"/>
              <a:t>, </a:t>
            </a:r>
            <a:r>
              <a:rPr lang="en-US" dirty="0" err="1"/>
              <a:t>ord_date</a:t>
            </a:r>
            <a:r>
              <a:rPr lang="en-US" dirty="0"/>
              <a:t>, </a:t>
            </a:r>
            <a:r>
              <a:rPr lang="en-US" dirty="0" err="1"/>
              <a:t>qty</a:t>
            </a:r>
            <a:r>
              <a:rPr lang="en-US" dirty="0"/>
              <a:t>, </a:t>
            </a:r>
            <a:r>
              <a:rPr lang="en-US" dirty="0" err="1"/>
              <a:t>payterms</a:t>
            </a:r>
            <a:r>
              <a:rPr lang="en-US" dirty="0"/>
              <a:t>, </a:t>
            </a:r>
            <a:r>
              <a:rPr lang="en-US" dirty="0" err="1"/>
              <a:t>title_id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sales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*</a:t>
            </a:r>
          </a:p>
          <a:p>
            <a:pPr marL="0" indent="0">
              <a:buNone/>
            </a:pPr>
            <a:r>
              <a:rPr lang="en-US" dirty="0"/>
              <a:t>FROM     sales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93" y="2717575"/>
            <a:ext cx="6153150" cy="459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9549" y="4920668"/>
            <a:ext cx="2923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above two queries are </a:t>
            </a:r>
            <a:r>
              <a:rPr lang="en-US"/>
              <a:t>equal because </a:t>
            </a:r>
            <a:r>
              <a:rPr lang="en-US" dirty="0"/>
              <a:t>* (called wild card character) represents all column names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04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(relational)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686840"/>
              </p:ext>
            </p:extLst>
          </p:nvPr>
        </p:nvGraphicFramePr>
        <p:xfrm>
          <a:off x="2310289" y="1687129"/>
          <a:ext cx="6550376" cy="3902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3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8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Operator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Condition Tested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=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for equality between two expressions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&lt;&gt;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two expressions are not equal to each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88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!=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two expressions are not equal to each other (same as &lt;&gt;)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&gt;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greater than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&gt;=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greater than or equal to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!&gt;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not greater than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&lt;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less than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&lt;=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less than or equal to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82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!&lt;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Tests whether one expression is not less than the 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824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*</a:t>
            </a:r>
          </a:p>
          <a:p>
            <a:pPr marL="0" indent="0">
              <a:buNone/>
            </a:pPr>
            <a:r>
              <a:rPr lang="en-US" dirty="0"/>
              <a:t>FROM     employee</a:t>
            </a:r>
          </a:p>
          <a:p>
            <a:pPr marL="0" indent="0">
              <a:buNone/>
            </a:pPr>
            <a:r>
              <a:rPr lang="en-US" dirty="0"/>
              <a:t>WHERE    </a:t>
            </a:r>
            <a:r>
              <a:rPr lang="en-US" dirty="0" err="1"/>
              <a:t>lname</a:t>
            </a:r>
            <a:r>
              <a:rPr lang="en-US" dirty="0"/>
              <a:t> = "Latimer"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69" y="4217696"/>
            <a:ext cx="48101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7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job_id</a:t>
            </a:r>
            <a:r>
              <a:rPr lang="en-US" dirty="0"/>
              <a:t> &lt;&gt;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8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job_id</a:t>
            </a:r>
            <a:r>
              <a:rPr lang="en-US" dirty="0"/>
              <a:t> &lt;&gt;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23" y="3623601"/>
            <a:ext cx="22479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9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Truth tables of </a:t>
            </a:r>
            <a:r>
              <a:rPr lang="en-US" dirty="0" err="1"/>
              <a:t>boolean</a:t>
            </a:r>
            <a:r>
              <a:rPr lang="en-US" dirty="0"/>
              <a:t> logical operators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Definition</a:t>
            </a:r>
          </a:p>
          <a:p>
            <a:r>
              <a:rPr lang="en-US" dirty="0"/>
              <a:t>AND (Binary Operator)</a:t>
            </a:r>
          </a:p>
          <a:p>
            <a:pPr marL="0" indent="0">
              <a:buNone/>
            </a:pPr>
            <a:r>
              <a:rPr lang="en-US" dirty="0"/>
              <a:t>True if both operands are true </a:t>
            </a:r>
          </a:p>
          <a:p>
            <a:pPr marL="0" indent="0">
              <a:buNone/>
            </a:pPr>
            <a:r>
              <a:rPr lang="en-US" dirty="0"/>
              <a:t>and false otherwise</a:t>
            </a:r>
          </a:p>
          <a:p>
            <a:r>
              <a:rPr lang="en-US" dirty="0"/>
              <a:t>OR (Binary Operator)</a:t>
            </a:r>
          </a:p>
          <a:p>
            <a:pPr marL="0" indent="0">
              <a:buNone/>
            </a:pPr>
            <a:r>
              <a:rPr lang="en-US" dirty="0"/>
              <a:t>False if both operands are false</a:t>
            </a:r>
          </a:p>
          <a:p>
            <a:pPr marL="0" indent="0">
              <a:buNone/>
            </a:pPr>
            <a:r>
              <a:rPr lang="en-US" dirty="0"/>
              <a:t>and true otherwise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OR (Unary Operator)</a:t>
            </a:r>
          </a:p>
          <a:p>
            <a:pPr marL="0" indent="0">
              <a:buNone/>
            </a:pPr>
            <a:r>
              <a:rPr lang="en-US" dirty="0"/>
              <a:t>Reverses binary value from true to false and vice versa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196" y="2493537"/>
            <a:ext cx="25717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67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pub_name</a:t>
            </a:r>
            <a:r>
              <a:rPr lang="en-US" dirty="0"/>
              <a:t>, state</a:t>
            </a:r>
          </a:p>
          <a:p>
            <a:pPr marL="0" indent="0">
              <a:buNone/>
            </a:pPr>
            <a:r>
              <a:rPr lang="en-US" dirty="0"/>
              <a:t>FROM publishers </a:t>
            </a:r>
          </a:p>
          <a:p>
            <a:pPr marL="0" indent="0">
              <a:buNone/>
            </a:pPr>
            <a:r>
              <a:rPr lang="en-US" dirty="0"/>
              <a:t>WHERE state = 'DC' OR</a:t>
            </a:r>
          </a:p>
          <a:p>
            <a:pPr marL="0" indent="0">
              <a:buNone/>
            </a:pPr>
            <a:r>
              <a:rPr lang="en-US" dirty="0"/>
              <a:t>state = 'MA'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054" y="2194632"/>
            <a:ext cx="5191125" cy="2266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858286"/>
            <a:ext cx="19716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0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pub_name</a:t>
            </a:r>
            <a:r>
              <a:rPr lang="en-US" dirty="0"/>
              <a:t>, state</a:t>
            </a:r>
          </a:p>
          <a:p>
            <a:pPr marL="0" indent="0">
              <a:buNone/>
            </a:pPr>
            <a:r>
              <a:rPr lang="en-US" dirty="0"/>
              <a:t>FROM publishers </a:t>
            </a:r>
          </a:p>
          <a:p>
            <a:pPr marL="0" indent="0">
              <a:buNone/>
            </a:pPr>
            <a:r>
              <a:rPr lang="en-US" dirty="0"/>
              <a:t>WHERE state = 'DC' OR</a:t>
            </a:r>
          </a:p>
          <a:p>
            <a:pPr marL="0" indent="0">
              <a:buNone/>
            </a:pPr>
            <a:r>
              <a:rPr lang="en-US" dirty="0"/>
              <a:t>state = 'MA' OR</a:t>
            </a:r>
          </a:p>
          <a:p>
            <a:pPr marL="0" indent="0">
              <a:buNone/>
            </a:pPr>
            <a:r>
              <a:rPr lang="en-US" dirty="0"/>
              <a:t>state = 'CA'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054" y="2194632"/>
            <a:ext cx="5191125" cy="2266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" y="4864122"/>
            <a:ext cx="22764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39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pub_name</a:t>
            </a:r>
            <a:r>
              <a:rPr lang="en-US" dirty="0"/>
              <a:t>, state</a:t>
            </a:r>
          </a:p>
          <a:p>
            <a:pPr marL="0" indent="0">
              <a:buNone/>
            </a:pPr>
            <a:r>
              <a:rPr lang="en-US" dirty="0"/>
              <a:t>FROM publishers </a:t>
            </a:r>
          </a:p>
          <a:p>
            <a:pPr marL="0" indent="0">
              <a:buNone/>
            </a:pPr>
            <a:r>
              <a:rPr lang="en-US" dirty="0"/>
              <a:t>WHERE state IN('DC',  'MA',  'CA')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054" y="2194632"/>
            <a:ext cx="5191125" cy="2266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" y="4864122"/>
            <a:ext cx="22764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40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pub_name</a:t>
            </a:r>
            <a:r>
              <a:rPr lang="en-US" dirty="0"/>
              <a:t>, state</a:t>
            </a:r>
          </a:p>
          <a:p>
            <a:pPr marL="0" indent="0">
              <a:buNone/>
            </a:pPr>
            <a:r>
              <a:rPr lang="en-US" dirty="0"/>
              <a:t>FROM publishers </a:t>
            </a:r>
          </a:p>
          <a:p>
            <a:pPr marL="0" indent="0">
              <a:buNone/>
            </a:pPr>
            <a:r>
              <a:rPr lang="en-US" dirty="0"/>
              <a:t>WHERE state NOT IN('DC',  'MA',  'CA')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054" y="2194632"/>
            <a:ext cx="5191125" cy="2266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245065"/>
            <a:ext cx="187642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17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r>
              <a:rPr lang="en-US" dirty="0"/>
              <a:t>, </a:t>
            </a:r>
            <a:r>
              <a:rPr lang="en-US" dirty="0" err="1"/>
              <a:t>min_lvl</a:t>
            </a:r>
            <a:r>
              <a:rPr lang="en-US" dirty="0"/>
              <a:t>, </a:t>
            </a:r>
            <a:r>
              <a:rPr lang="en-US" dirty="0" err="1"/>
              <a:t>max_lvl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min_lvl</a:t>
            </a:r>
            <a:r>
              <a:rPr lang="en-US" dirty="0"/>
              <a:t> &gt;= 100 AND</a:t>
            </a:r>
          </a:p>
          <a:p>
            <a:pPr marL="0" indent="0">
              <a:buNone/>
            </a:pPr>
            <a:r>
              <a:rPr lang="en-US" dirty="0" err="1"/>
              <a:t>max_lvl</a:t>
            </a:r>
            <a:r>
              <a:rPr lang="en-US" dirty="0"/>
              <a:t> &lt;= 225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87" y="4498416"/>
            <a:ext cx="27051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87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r>
              <a:rPr lang="en-US" dirty="0"/>
              <a:t>, </a:t>
            </a:r>
            <a:r>
              <a:rPr lang="en-US" dirty="0" err="1"/>
              <a:t>min_lvl</a:t>
            </a:r>
            <a:r>
              <a:rPr lang="en-US" dirty="0"/>
              <a:t>, </a:t>
            </a:r>
            <a:r>
              <a:rPr lang="en-US" dirty="0" err="1"/>
              <a:t>max_lvl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min_lvl</a:t>
            </a:r>
            <a:r>
              <a:rPr lang="en-US" dirty="0"/>
              <a:t> &gt;= 100 AND</a:t>
            </a:r>
          </a:p>
          <a:p>
            <a:pPr marL="0" indent="0">
              <a:buNone/>
            </a:pPr>
            <a:r>
              <a:rPr lang="en-US" dirty="0" err="1"/>
              <a:t>max_lvl</a:t>
            </a:r>
            <a:r>
              <a:rPr lang="en-US" dirty="0"/>
              <a:t> &lt;= 225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87" y="4498416"/>
            <a:ext cx="27051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31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r>
              <a:rPr lang="en-US" dirty="0"/>
              <a:t>, </a:t>
            </a:r>
            <a:r>
              <a:rPr lang="en-US" dirty="0" err="1"/>
              <a:t>min_lvl</a:t>
            </a:r>
            <a:r>
              <a:rPr lang="en-US" dirty="0"/>
              <a:t>, </a:t>
            </a:r>
            <a:r>
              <a:rPr lang="en-US" dirty="0" err="1"/>
              <a:t>max_lvl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min_lvl</a:t>
            </a:r>
            <a:r>
              <a:rPr lang="en-US" dirty="0"/>
              <a:t> &gt;= 100 AND</a:t>
            </a:r>
          </a:p>
          <a:p>
            <a:pPr marL="0" indent="0">
              <a:buNone/>
            </a:pPr>
            <a:r>
              <a:rPr lang="en-US" dirty="0" err="1"/>
              <a:t>min_lvl</a:t>
            </a:r>
            <a:r>
              <a:rPr lang="en-US" dirty="0"/>
              <a:t> &lt;= 150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425569"/>
            <a:ext cx="24574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47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(BETWEEN)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r>
              <a:rPr lang="en-US" dirty="0"/>
              <a:t>, </a:t>
            </a:r>
            <a:r>
              <a:rPr lang="en-US" dirty="0" err="1"/>
              <a:t>min_lvl</a:t>
            </a:r>
            <a:r>
              <a:rPr lang="en-US" dirty="0"/>
              <a:t>, </a:t>
            </a:r>
            <a:r>
              <a:rPr lang="en-US" dirty="0" err="1"/>
              <a:t>max_lvl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min_lvl</a:t>
            </a:r>
            <a:r>
              <a:rPr lang="en-US" dirty="0"/>
              <a:t> BETWEEN 100 AND 150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425569"/>
            <a:ext cx="24574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33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operators (NOT)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job_desc</a:t>
            </a:r>
            <a:r>
              <a:rPr lang="en-US" dirty="0"/>
              <a:t>, </a:t>
            </a:r>
            <a:r>
              <a:rPr lang="en-US" dirty="0" err="1"/>
              <a:t>min_lvl</a:t>
            </a:r>
            <a:r>
              <a:rPr lang="en-US" dirty="0"/>
              <a:t>, </a:t>
            </a:r>
            <a:r>
              <a:rPr lang="en-US" dirty="0" err="1"/>
              <a:t>max_lvl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jobs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min_lvl</a:t>
            </a:r>
            <a:r>
              <a:rPr lang="en-US" dirty="0"/>
              <a:t> NOT BETWEEN 100 AND 150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95" y="2160589"/>
            <a:ext cx="3914775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84" y="4194722"/>
            <a:ext cx="25812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50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Column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</a:t>
            </a:r>
            <a:r>
              <a:rPr lang="en-US" dirty="0" err="1"/>
              <a:t>au_fname</a:t>
            </a:r>
            <a:r>
              <a:rPr lang="en-US" dirty="0"/>
              <a:t>, </a:t>
            </a:r>
            <a:r>
              <a:rPr lang="en-US" dirty="0" err="1"/>
              <a:t>au_lname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2" y="3375918"/>
            <a:ext cx="20383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67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Column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</a:t>
            </a:r>
            <a:r>
              <a:rPr lang="en-US" dirty="0" err="1"/>
              <a:t>au_fname</a:t>
            </a:r>
            <a:r>
              <a:rPr lang="en-US" dirty="0"/>
              <a:t> AS "First Name", </a:t>
            </a:r>
            <a:r>
              <a:rPr lang="en-US" dirty="0" err="1"/>
              <a:t>au_lname</a:t>
            </a:r>
            <a:r>
              <a:rPr lang="en-US" dirty="0"/>
              <a:t> AS "Last Name"</a:t>
            </a:r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43" y="3368094"/>
            <a:ext cx="15906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09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TOP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TOP 10 </a:t>
            </a:r>
            <a:r>
              <a:rPr lang="en-US" dirty="0" err="1"/>
              <a:t>au_fname</a:t>
            </a:r>
            <a:r>
              <a:rPr lang="en-US" dirty="0"/>
              <a:t> AS "First Name", </a:t>
            </a:r>
            <a:r>
              <a:rPr lang="en-US" dirty="0" err="1"/>
              <a:t>au_lname</a:t>
            </a:r>
            <a:r>
              <a:rPr lang="en-US" dirty="0"/>
              <a:t> AS "Last Name"</a:t>
            </a:r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35" y="4472647"/>
            <a:ext cx="2466975" cy="1971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486" y="3388056"/>
            <a:ext cx="1275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 records in total</a:t>
            </a:r>
          </a:p>
        </p:txBody>
      </p:sp>
    </p:spTree>
    <p:extLst>
      <p:ext uri="{BB962C8B-B14F-4D97-AF65-F5344CB8AC3E}">
        <p14:creationId xmlns:p14="http://schemas.microsoft.com/office/powerpoint/2010/main" val="2509952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TOP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TOP 10 PERCENT </a:t>
            </a:r>
            <a:r>
              <a:rPr lang="en-US" dirty="0" err="1"/>
              <a:t>au_fname</a:t>
            </a:r>
            <a:r>
              <a:rPr lang="en-US" dirty="0"/>
              <a:t> AS "First Name", </a:t>
            </a:r>
            <a:r>
              <a:rPr lang="en-US" dirty="0" err="1"/>
              <a:t>au_lname</a:t>
            </a:r>
            <a:r>
              <a:rPr lang="en-US" dirty="0"/>
              <a:t> AS "Last Name"</a:t>
            </a:r>
          </a:p>
          <a:p>
            <a:pPr marL="0" indent="0">
              <a:buNone/>
            </a:pPr>
            <a:r>
              <a:rPr lang="en-US" dirty="0"/>
              <a:t>FROM     authors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100975"/>
            <a:ext cx="21240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56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Distinct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DISTINCT </a:t>
            </a:r>
            <a:r>
              <a:rPr lang="en-US" dirty="0" err="1"/>
              <a:t>au_fname</a:t>
            </a:r>
            <a:r>
              <a:rPr lang="en-US" dirty="0"/>
              <a:t>, </a:t>
            </a:r>
            <a:r>
              <a:rPr lang="en-US" dirty="0" err="1"/>
              <a:t>au_lname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authors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12" y="2856307"/>
            <a:ext cx="7486650" cy="3990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23" y="3362325"/>
            <a:ext cx="1504950" cy="3495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7173" y="3593205"/>
            <a:ext cx="15007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23 rows returned. No Distinct/unique record</a:t>
            </a:r>
          </a:p>
        </p:txBody>
      </p:sp>
    </p:spTree>
    <p:extLst>
      <p:ext uri="{BB962C8B-B14F-4D97-AF65-F5344CB8AC3E}">
        <p14:creationId xmlns:p14="http://schemas.microsoft.com/office/powerpoint/2010/main" val="144951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en-US" dirty="0"/>
              <a:t>Relational JOINs are used when we want to retrieve data from two or more tables</a:t>
            </a:r>
          </a:p>
          <a:p>
            <a:pPr>
              <a:spcBef>
                <a:spcPts val="2400"/>
              </a:spcBef>
            </a:pPr>
            <a:r>
              <a:rPr lang="en-US" dirty="0"/>
              <a:t>There are two are more table names in the FROM clause</a:t>
            </a:r>
          </a:p>
          <a:p>
            <a:pPr>
              <a:spcBef>
                <a:spcPts val="2400"/>
              </a:spcBef>
            </a:pPr>
            <a:r>
              <a:rPr lang="en-US" dirty="0"/>
              <a:t>Relational JOINs are the most processing intensive SQL statements</a:t>
            </a:r>
          </a:p>
        </p:txBody>
      </p:sp>
    </p:spTree>
    <p:extLst>
      <p:ext uri="{BB962C8B-B14F-4D97-AF65-F5344CB8AC3E}">
        <p14:creationId xmlns:p14="http://schemas.microsoft.com/office/powerpoint/2010/main" val="2120153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(CROSS JOIN)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790" y="2229375"/>
            <a:ext cx="1400175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035" y="2229375"/>
            <a:ext cx="1447800" cy="809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9099" y="1930400"/>
            <a:ext cx="1403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Student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651" y="1921598"/>
            <a:ext cx="1403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Phone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608" y="3821449"/>
            <a:ext cx="1751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CROSS JOIN Table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608" y="4352187"/>
            <a:ext cx="2857500" cy="1476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6975" y="3975337"/>
            <a:ext cx="29380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/>
              <a:t>SELECT * </a:t>
            </a:r>
          </a:p>
          <a:p>
            <a:r>
              <a:rPr lang="en-US" sz="1400" dirty="0"/>
              <a:t>FROM Student, Phone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SELECT * </a:t>
            </a:r>
          </a:p>
          <a:p>
            <a:r>
              <a:rPr lang="en-US" sz="1400" dirty="0"/>
              <a:t>FROM Student CROSS JOIN Phone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28103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(Natural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Involves an equality  condition, that’s why also called </a:t>
            </a:r>
            <a:r>
              <a:rPr lang="en-US" dirty="0" err="1"/>
              <a:t>equi</a:t>
            </a:r>
            <a:r>
              <a:rPr lang="en-US" dirty="0"/>
              <a:t>-join</a:t>
            </a:r>
          </a:p>
          <a:p>
            <a:pPr>
              <a:spcBef>
                <a:spcPts val="2400"/>
              </a:spcBef>
            </a:pPr>
            <a:r>
              <a:rPr lang="en-US" dirty="0"/>
              <a:t>Selects only those records from CROSS JOIN where Primary Key Foreign Key value matches</a:t>
            </a:r>
          </a:p>
          <a:p>
            <a:r>
              <a:rPr lang="en-US" dirty="0"/>
              <a:t>Actually shows/displays child records against their parent records </a:t>
            </a:r>
          </a:p>
        </p:txBody>
      </p:sp>
    </p:spTree>
    <p:extLst>
      <p:ext uri="{BB962C8B-B14F-4D97-AF65-F5344CB8AC3E}">
        <p14:creationId xmlns:p14="http://schemas.microsoft.com/office/powerpoint/2010/main" val="3612537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(Natural JOIN)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42" y="3196100"/>
            <a:ext cx="3000375" cy="904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4197" y="216058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Owner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Owner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6021514" y="2807594"/>
            <a:ext cx="31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Natural JOIN of Student and Phone</a:t>
            </a:r>
          </a:p>
        </p:txBody>
      </p:sp>
    </p:spTree>
    <p:extLst>
      <p:ext uri="{BB962C8B-B14F-4D97-AF65-F5344CB8AC3E}">
        <p14:creationId xmlns:p14="http://schemas.microsoft.com/office/powerpoint/2010/main" val="504484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(Natural JOIN)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94197" y="216058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 Name, Make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Owner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 Name, Make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Owner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6021514" y="2807594"/>
            <a:ext cx="31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Natural JOIN of Student and Phone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266" y="3277796"/>
            <a:ext cx="15811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4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(Table Names Aliases)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422" y="5085332"/>
            <a:ext cx="2771775" cy="1200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4197" y="216058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 Name, Make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 Name, Make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rollNo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5911403" y="2820474"/>
            <a:ext cx="3362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Phone with FK column name same as PK name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435" y="3170946"/>
            <a:ext cx="1619250" cy="895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308" y="4795795"/>
            <a:ext cx="2079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Error message</a:t>
            </a:r>
          </a:p>
        </p:txBody>
      </p:sp>
    </p:spTree>
    <p:extLst>
      <p:ext uri="{BB962C8B-B14F-4D97-AF65-F5344CB8AC3E}">
        <p14:creationId xmlns:p14="http://schemas.microsoft.com/office/powerpoint/2010/main" val="2105332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(Table Names Aliases)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94196" y="2160589"/>
            <a:ext cx="6521003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Student.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Student.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Phone.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Student.rollNo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Phone.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Student.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Student.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Phone.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Student.rollNo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Phone.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7463912" y="3529775"/>
            <a:ext cx="3362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Phone with FK column name same as PK name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702" y="3812080"/>
            <a:ext cx="1619250" cy="895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0685" y="4116031"/>
            <a:ext cx="6521003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 s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 p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 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 p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2489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(LEFT OUTER JOIN)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684" y="1852392"/>
            <a:ext cx="6521003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 s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 LEFT OUTER JOIN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 p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64" y="3454575"/>
            <a:ext cx="17907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205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(RIGHT OUTER JOIN)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684" y="1852392"/>
            <a:ext cx="6521003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 s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 RIGHT OUTER JOIN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 p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84" y="3429000"/>
            <a:ext cx="15906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6099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JOIN (FULL OUTER JOIN)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684" y="1852392"/>
            <a:ext cx="6521003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RollNo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s.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p.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Make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Student s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 FULL OUTER JOIN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Phone p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s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.rollNo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 err="1">
                <a:solidFill>
                  <a:srgbClr val="0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RollNo</a:t>
            </a:r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84" y="3429000"/>
            <a:ext cx="160972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712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SELECT (LIKE Statement)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pattern matching</a:t>
            </a:r>
          </a:p>
          <a:p>
            <a:r>
              <a:rPr lang="en-US" dirty="0"/>
              <a:t>&lt;</a:t>
            </a:r>
            <a:r>
              <a:rPr lang="en-US" dirty="0" err="1"/>
              <a:t>match_expression</a:t>
            </a:r>
            <a:r>
              <a:rPr lang="en-US" dirty="0"/>
              <a:t>&gt; LIKE &lt;pattern&gt;</a:t>
            </a:r>
          </a:p>
          <a:p>
            <a:r>
              <a:rPr lang="en-US" dirty="0"/>
              <a:t>Match expression is normally a column name representing a value</a:t>
            </a:r>
          </a:p>
          <a:p>
            <a:r>
              <a:rPr lang="en-US" dirty="0"/>
              <a:t>Value is normally character string</a:t>
            </a:r>
          </a:p>
          <a:p>
            <a:r>
              <a:rPr lang="en-US" dirty="0"/>
              <a:t>Pattern is a string with wild card characters</a:t>
            </a:r>
          </a:p>
          <a:p>
            <a:r>
              <a:rPr lang="en-US" dirty="0"/>
              <a:t>Wild card characters a keyboard characters carry special meaning when used in pattern strings</a:t>
            </a:r>
          </a:p>
        </p:txBody>
      </p:sp>
    </p:spTree>
    <p:extLst>
      <p:ext uri="{BB962C8B-B14F-4D97-AF65-F5344CB8AC3E}">
        <p14:creationId xmlns:p14="http://schemas.microsoft.com/office/powerpoint/2010/main" val="3013871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SELECT (LIKE Statement)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66" y="2018568"/>
            <a:ext cx="7267575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6792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Scalar Functions</a:t>
            </a:r>
          </a:p>
          <a:p>
            <a:pPr lvl="2" indent="-285750"/>
            <a:r>
              <a:rPr lang="en-US" sz="1800" dirty="0"/>
              <a:t>Act upon single row of a table and return a single value</a:t>
            </a:r>
          </a:p>
          <a:p>
            <a:pPr lvl="2" indent="-285750"/>
            <a:r>
              <a:rPr lang="en-US" sz="1800" dirty="0"/>
              <a:t>E.g. DATE, CONVERT, SUBSTR, VAR </a:t>
            </a:r>
            <a:r>
              <a:rPr lang="en-US" sz="1800" dirty="0" err="1"/>
              <a:t>etc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Group/Aggregate Functions</a:t>
            </a:r>
          </a:p>
          <a:p>
            <a:pPr marL="1085850" lvl="2" indent="-285750"/>
            <a:r>
              <a:rPr lang="en-US" sz="1800" dirty="0"/>
              <a:t>Act upon one or more rows of a table and return a single value</a:t>
            </a:r>
          </a:p>
          <a:p>
            <a:pPr marL="1085850" lvl="2" indent="-285750"/>
            <a:r>
              <a:rPr lang="en-US" sz="1800" dirty="0"/>
              <a:t>SUM, AVG, </a:t>
            </a:r>
            <a:r>
              <a:rPr lang="en-US" sz="1800" dirty="0" err="1"/>
              <a:t>MINetc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00964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9253070" cy="3416300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/>
              <a:t>Five Common Aggregate Functions</a:t>
            </a:r>
          </a:p>
          <a:p>
            <a:pPr lvl="1">
              <a:spcAft>
                <a:spcPts val="1200"/>
              </a:spcAft>
            </a:pPr>
            <a:r>
              <a:rPr lang="en-US" sz="1800" dirty="0"/>
              <a:t>COUNT: returns total number of rows</a:t>
            </a:r>
          </a:p>
          <a:p>
            <a:pPr lvl="1">
              <a:spcAft>
                <a:spcPts val="1200"/>
              </a:spcAft>
            </a:pPr>
            <a:r>
              <a:rPr lang="en-US" sz="1800" dirty="0"/>
              <a:t>SUM: used to return arithmetic sum of all the values of a numerical column</a:t>
            </a:r>
          </a:p>
          <a:p>
            <a:pPr lvl="1">
              <a:spcAft>
                <a:spcPts val="1200"/>
              </a:spcAft>
            </a:pPr>
            <a:r>
              <a:rPr lang="en-US" sz="1800" dirty="0"/>
              <a:t>AVG: returns arithmetic mean of all the values of a numerical column</a:t>
            </a:r>
          </a:p>
          <a:p>
            <a:pPr lvl="1">
              <a:spcAft>
                <a:spcPts val="1200"/>
              </a:spcAft>
            </a:pPr>
            <a:r>
              <a:rPr lang="en-US" sz="1800" dirty="0"/>
              <a:t>MIN: returns the minimum value of all the values of a numerical column</a:t>
            </a:r>
          </a:p>
          <a:p>
            <a:pPr lvl="1">
              <a:spcAft>
                <a:spcPts val="1200"/>
              </a:spcAft>
            </a:pPr>
            <a:r>
              <a:rPr lang="en-US" sz="1800" dirty="0"/>
              <a:t>Max: returns the maximum value of all the values of a numerical </a:t>
            </a:r>
            <a:r>
              <a:rPr lang="en-US" dirty="0"/>
              <a:t>column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76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(SUM)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SUM(</a:t>
            </a:r>
            <a:r>
              <a:rPr lang="en-US" dirty="0" err="1"/>
              <a:t>qty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FROM     sales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  SUM(</a:t>
            </a:r>
            <a:r>
              <a:rPr lang="en-US" dirty="0" err="1"/>
              <a:t>qty</a:t>
            </a:r>
            <a:r>
              <a:rPr lang="en-US" dirty="0"/>
              <a:t>) "Total titles"</a:t>
            </a:r>
          </a:p>
          <a:p>
            <a:pPr marL="0" indent="0">
              <a:buNone/>
            </a:pPr>
            <a:r>
              <a:rPr lang="en-US" dirty="0"/>
              <a:t>FROM     sales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04" y="2083315"/>
            <a:ext cx="5950896" cy="37636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66" y="2160589"/>
            <a:ext cx="1448270" cy="5126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65" y="3767070"/>
            <a:ext cx="1448271" cy="7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18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(AVG)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3742920"/>
            <a:ext cx="9067800" cy="285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839" y="2260397"/>
            <a:ext cx="1505621" cy="6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81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(COUNT)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SELECT    COUNT(*) AS “Total Tiles"</a:t>
            </a:r>
          </a:p>
          <a:p>
            <a:pPr marL="0" indent="0">
              <a:buNone/>
            </a:pPr>
            <a:r>
              <a:rPr lang="en-US" sz="1400" dirty="0"/>
              <a:t>FROM     titles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SELECT    COUNT(</a:t>
            </a:r>
            <a:r>
              <a:rPr lang="en-US" sz="1400" dirty="0" err="1"/>
              <a:t>title_id</a:t>
            </a:r>
            <a:r>
              <a:rPr lang="en-US" sz="1400" dirty="0"/>
              <a:t>) AS “Total Tiles"</a:t>
            </a:r>
          </a:p>
          <a:p>
            <a:pPr marL="0" indent="0">
              <a:buNone/>
            </a:pPr>
            <a:r>
              <a:rPr lang="en-US" sz="1400" dirty="0"/>
              <a:t>FROM     titles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3923226"/>
            <a:ext cx="9067800" cy="2857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839" y="2233030"/>
            <a:ext cx="1609188" cy="76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423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(MIN)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MIN(price) AS “Minimum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3742920"/>
            <a:ext cx="9067800" cy="2857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243" y="2245909"/>
            <a:ext cx="1844295" cy="7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67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(MAX)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MAX(price) AS “Maximum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3742920"/>
            <a:ext cx="9067800" cy="2857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224" y="2221023"/>
            <a:ext cx="1652499" cy="61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93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with 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1600" dirty="0"/>
              <a:t>GROUP BY: it is used to calculate aggregate function output for groups, subgroups, sub-subgroups </a:t>
            </a:r>
            <a:r>
              <a:rPr lang="en-US" sz="1600" dirty="0" err="1"/>
              <a:t>etc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/>
              <a:t>Column(s) in the SELECT line without aggregate functions must be included in GROUP BY clause</a:t>
            </a:r>
          </a:p>
          <a:p>
            <a:pPr>
              <a:spcAft>
                <a:spcPts val="1200"/>
              </a:spcAft>
            </a:pPr>
            <a:r>
              <a:rPr lang="en-US" sz="1600" dirty="0"/>
              <a:t>GROUP BY also uses HAVING clause to restrict group-subgroup output</a:t>
            </a:r>
          </a:p>
          <a:p>
            <a:pPr>
              <a:spcAft>
                <a:spcPts val="1200"/>
              </a:spcAft>
            </a:pPr>
            <a:r>
              <a:rPr lang="en-US" sz="1600" dirty="0"/>
              <a:t>HAVING, contrary to WHERE clause which restricts only records to be included in the output, restricts aggregate output to be included in output</a:t>
            </a:r>
          </a:p>
          <a:p>
            <a:pPr>
              <a:spcAft>
                <a:spcPts val="1200"/>
              </a:spcAft>
            </a:pPr>
            <a:r>
              <a:rPr lang="en-US" sz="1600" dirty="0"/>
              <a:t>HAVING is used only when GROUP BY is used</a:t>
            </a:r>
          </a:p>
          <a:p>
            <a:pPr>
              <a:spcAft>
                <a:spcPts val="1200"/>
              </a:spcAft>
            </a:pPr>
            <a:r>
              <a:rPr lang="en-US" sz="1600" dirty="0"/>
              <a:t>A single query can have both the WHERE clause as well as the HAVING clause</a:t>
            </a:r>
          </a:p>
          <a:p>
            <a:pPr>
              <a:spcAft>
                <a:spcPts val="12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1594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Aggregate Functions (SUM with Subgroups)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SELECT   SUM(</a:t>
            </a:r>
            <a:r>
              <a:rPr lang="en-US" sz="1400" dirty="0" err="1"/>
              <a:t>qty</a:t>
            </a:r>
            <a:r>
              <a:rPr lang="en-US" sz="1400" dirty="0"/>
              <a:t>) "Total titles"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FROM     sales </a:t>
            </a:r>
          </a:p>
          <a:p>
            <a:pPr>
              <a:spcBef>
                <a:spcPts val="0"/>
              </a:spcBef>
            </a:pPr>
            <a:endParaRPr lang="en-US" sz="1400" dirty="0"/>
          </a:p>
          <a:p>
            <a:pPr>
              <a:spcBef>
                <a:spcPts val="0"/>
              </a:spcBef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SELECT   </a:t>
            </a:r>
            <a:r>
              <a:rPr lang="en-US" sz="1400" dirty="0" err="1"/>
              <a:t>title_id</a:t>
            </a:r>
            <a:r>
              <a:rPr lang="en-US" sz="1400" dirty="0"/>
              <a:t>, SUM(</a:t>
            </a:r>
            <a:r>
              <a:rPr lang="en-US" sz="1400" dirty="0" err="1"/>
              <a:t>qty</a:t>
            </a:r>
            <a:r>
              <a:rPr lang="en-US" sz="1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FROM     sales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GROUP BY </a:t>
            </a:r>
            <a:r>
              <a:rPr lang="en-US" sz="1400" dirty="0" err="1"/>
              <a:t>title_id</a:t>
            </a: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SELECT   </a:t>
            </a:r>
            <a:r>
              <a:rPr lang="en-US" sz="1400" dirty="0" err="1"/>
              <a:t>title_id</a:t>
            </a:r>
            <a:r>
              <a:rPr lang="en-US" sz="1400" dirty="0"/>
              <a:t>, SUM(</a:t>
            </a:r>
            <a:r>
              <a:rPr lang="en-US" sz="1400" dirty="0" err="1"/>
              <a:t>qty</a:t>
            </a:r>
            <a:r>
              <a:rPr lang="en-US" sz="1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"Total titles"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FROM     sales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GROUP BY </a:t>
            </a:r>
            <a:r>
              <a:rPr lang="en-US" sz="1400" dirty="0" err="1"/>
              <a:t>title_id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04" y="2068451"/>
            <a:ext cx="5950896" cy="37636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704" y="2041309"/>
            <a:ext cx="1448271" cy="7241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035" y="4046432"/>
            <a:ext cx="2047383" cy="26827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544" y="5329864"/>
            <a:ext cx="13144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89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Aggregate Functions (AVG with Subgroups)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664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SELECT    AVG(price) AS "Average Price"</a:t>
            </a:r>
          </a:p>
          <a:p>
            <a:pPr marL="0" indent="0">
              <a:buNone/>
            </a:pPr>
            <a:r>
              <a:rPr lang="en-US" sz="1600" dirty="0"/>
              <a:t>FROM     titles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  type, </a:t>
            </a:r>
            <a:r>
              <a:rPr lang="en-US" sz="1600" dirty="0" err="1"/>
              <a:t>pub_id</a:t>
            </a:r>
            <a:r>
              <a:rPr lang="en-US" sz="1600" dirty="0"/>
              <a:t>, AVG(price) AS "Average Price"</a:t>
            </a:r>
          </a:p>
          <a:p>
            <a:pPr marL="0" indent="0">
              <a:buNone/>
            </a:pPr>
            <a:r>
              <a:rPr lang="en-US" sz="1600" dirty="0"/>
              <a:t>FROM     titles</a:t>
            </a:r>
          </a:p>
          <a:p>
            <a:pPr marL="0" indent="0">
              <a:buNone/>
            </a:pPr>
            <a:r>
              <a:rPr lang="en-US" sz="1600" dirty="0"/>
              <a:t>GROUP BY type, </a:t>
            </a:r>
            <a:r>
              <a:rPr lang="en-US" sz="1600" dirty="0" err="1"/>
              <a:t>pub_id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3993641"/>
            <a:ext cx="9067800" cy="285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1620224"/>
            <a:ext cx="1505621" cy="6913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251" y="1597943"/>
            <a:ext cx="2685173" cy="238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288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SQL Aggregate Functions with multiple Subgroups and ORDER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Price", Max(price) "Max Price", Min(price) "Min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309" y="3143546"/>
            <a:ext cx="3689865" cy="191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91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SQL Aggregate Functions with Subgroups and ORDER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465" y="1930400"/>
            <a:ext cx="2685173" cy="23816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40" y="4458306"/>
            <a:ext cx="20859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967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SQL Aggregate Functions with Subgroups and ORDER BY (Another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3952723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  Province, City, COUNT(Roll#) AS “Total Students"</a:t>
            </a:r>
          </a:p>
          <a:p>
            <a:pPr marL="0" indent="0">
              <a:buNone/>
            </a:pPr>
            <a:r>
              <a:rPr lang="en-US" dirty="0"/>
              <a:t>FROM     Student</a:t>
            </a:r>
          </a:p>
          <a:p>
            <a:pPr marL="0" indent="0">
              <a:buNone/>
            </a:pPr>
            <a:r>
              <a:rPr lang="en-US" dirty="0"/>
              <a:t>GROUP BY Province, City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242" y="1977647"/>
            <a:ext cx="3895725" cy="3800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69" y="4219834"/>
            <a:ext cx="2428609" cy="19899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759" y="4205307"/>
            <a:ext cx="2401211" cy="2004489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443789" y="2153335"/>
            <a:ext cx="3952723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SELECT   Province, City, COUNT(Roll#) AS “Total Students"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FROM     Student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GROUP BY Province, City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Order By Province, City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670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Aggregate Functions with Subgroups, ORDER BY and 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AVG(price)  &gt; 3</a:t>
            </a:r>
          </a:p>
          <a:p>
            <a:pPr marL="0" indent="0">
              <a:buNone/>
            </a:pPr>
            <a:r>
              <a:rPr lang="en-US" dirty="0"/>
              <a:t>Order By type, </a:t>
            </a:r>
            <a:r>
              <a:rPr lang="en-US" dirty="0" err="1"/>
              <a:t>pub_id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497" y="2117047"/>
            <a:ext cx="2463690" cy="21936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80" y="4383314"/>
            <a:ext cx="2747889" cy="168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50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Aggregate Functions with Subgroups, ORDER BY and HAVING (Another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  Province, City, COUNT(</a:t>
            </a:r>
            <a:r>
              <a:rPr lang="en-US" dirty="0" err="1"/>
              <a:t>RollNo</a:t>
            </a:r>
            <a:r>
              <a:rPr lang="en-US" dirty="0"/>
              <a:t>) AS "Total Students"</a:t>
            </a:r>
          </a:p>
          <a:p>
            <a:pPr marL="0" indent="0">
              <a:buNone/>
            </a:pPr>
            <a:r>
              <a:rPr lang="en-US" dirty="0"/>
              <a:t>FROM     Student</a:t>
            </a:r>
          </a:p>
          <a:p>
            <a:pPr marL="0" indent="0">
              <a:buNone/>
            </a:pPr>
            <a:r>
              <a:rPr lang="en-US" dirty="0"/>
              <a:t>GROUP BY Province, City</a:t>
            </a:r>
          </a:p>
          <a:p>
            <a:pPr marL="0" indent="0">
              <a:buNone/>
            </a:pPr>
            <a:r>
              <a:rPr lang="en-US" dirty="0"/>
              <a:t>Order By Province, City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Province, City, COUNT(</a:t>
            </a:r>
            <a:r>
              <a:rPr lang="en-US" dirty="0" err="1"/>
              <a:t>RollNo</a:t>
            </a:r>
            <a:r>
              <a:rPr lang="en-US" dirty="0"/>
              <a:t>) AS "Total Students"</a:t>
            </a:r>
          </a:p>
          <a:p>
            <a:pPr marL="0" indent="0">
              <a:buNone/>
            </a:pPr>
            <a:r>
              <a:rPr lang="en-US" dirty="0"/>
              <a:t>FROM     Student</a:t>
            </a:r>
          </a:p>
          <a:p>
            <a:pPr marL="0" indent="0">
              <a:buNone/>
            </a:pPr>
            <a:r>
              <a:rPr lang="en-US" dirty="0"/>
              <a:t>GROUP BY Province, City</a:t>
            </a:r>
          </a:p>
          <a:p>
            <a:pPr marL="0" indent="0">
              <a:buNone/>
            </a:pPr>
            <a:r>
              <a:rPr lang="en-US" dirty="0"/>
              <a:t>HAVING COUNT(</a:t>
            </a:r>
            <a:r>
              <a:rPr lang="en-US" dirty="0" err="1"/>
              <a:t>RollNo</a:t>
            </a:r>
            <a:r>
              <a:rPr lang="en-US" dirty="0"/>
              <a:t>) &gt;= 2</a:t>
            </a:r>
          </a:p>
          <a:p>
            <a:pPr marL="0" indent="0">
              <a:buNone/>
            </a:pPr>
            <a:r>
              <a:rPr lang="en-US" dirty="0"/>
              <a:t>Order By Province, City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027" y="4412342"/>
            <a:ext cx="2904608" cy="15385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704" y="1839481"/>
            <a:ext cx="2793096" cy="233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83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Aggregate Functions with Subgroups, WHERE, ORDER BY and HAVING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SELECT   type, </a:t>
            </a:r>
            <a:r>
              <a:rPr lang="en-US" dirty="0" err="1"/>
              <a:t>pub_id</a:t>
            </a:r>
            <a:r>
              <a:rPr lang="en-US" dirty="0"/>
              <a:t>, AVG(price) AS "Average Price"</a:t>
            </a:r>
          </a:p>
          <a:p>
            <a:pPr marL="0" indent="0">
              <a:buNone/>
            </a:pPr>
            <a:r>
              <a:rPr lang="en-US" dirty="0"/>
              <a:t>FROM     titles</a:t>
            </a:r>
          </a:p>
          <a:p>
            <a:pPr marL="0" indent="0">
              <a:buNone/>
            </a:pPr>
            <a:r>
              <a:rPr lang="en-US" dirty="0"/>
              <a:t>Where type != '</a:t>
            </a:r>
            <a:r>
              <a:rPr lang="en-US" dirty="0" err="1"/>
              <a:t>mod_cook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GROUP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AVG(price)  &gt; 3</a:t>
            </a:r>
          </a:p>
          <a:p>
            <a:pPr marL="0" indent="0">
              <a:buNone/>
            </a:pPr>
            <a:r>
              <a:rPr lang="en-US" dirty="0"/>
              <a:t>Order By type, </a:t>
            </a:r>
            <a:r>
              <a:rPr lang="en-US" dirty="0" err="1"/>
              <a:t>pub_id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  Province, City, COUNT(</a:t>
            </a:r>
            <a:r>
              <a:rPr lang="en-US" dirty="0" err="1"/>
              <a:t>RollNo</a:t>
            </a:r>
            <a:r>
              <a:rPr lang="en-US" dirty="0"/>
              <a:t>) AS "Total Students"</a:t>
            </a:r>
          </a:p>
          <a:p>
            <a:pPr marL="0" indent="0">
              <a:buNone/>
            </a:pPr>
            <a:r>
              <a:rPr lang="en-US" dirty="0"/>
              <a:t>FROM     Student</a:t>
            </a:r>
          </a:p>
          <a:p>
            <a:pPr marL="0" indent="0">
              <a:buNone/>
            </a:pPr>
            <a:r>
              <a:rPr lang="en-US" dirty="0"/>
              <a:t>Where Province != ‘Panjab’</a:t>
            </a:r>
          </a:p>
          <a:p>
            <a:pPr marL="0" indent="0">
              <a:buNone/>
            </a:pPr>
            <a:r>
              <a:rPr lang="en-US" dirty="0"/>
              <a:t>GROUP BY Province, City</a:t>
            </a:r>
          </a:p>
          <a:p>
            <a:pPr marL="0" indent="0">
              <a:buNone/>
            </a:pPr>
            <a:r>
              <a:rPr lang="en-US" dirty="0"/>
              <a:t>HAVING COUNT(</a:t>
            </a:r>
            <a:r>
              <a:rPr lang="en-US" dirty="0" err="1"/>
              <a:t>RollNo</a:t>
            </a:r>
            <a:r>
              <a:rPr lang="en-US" dirty="0"/>
              <a:t>) &gt;= 2</a:t>
            </a:r>
          </a:p>
          <a:p>
            <a:pPr marL="0" indent="0">
              <a:buNone/>
            </a:pPr>
            <a:r>
              <a:rPr lang="en-US" dirty="0"/>
              <a:t>Order By Province, City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704" y="4458015"/>
            <a:ext cx="2661296" cy="12606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54" y="2213927"/>
            <a:ext cx="2955030" cy="153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8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		End of SELECT Statement</a:t>
            </a:r>
          </a:p>
        </p:txBody>
      </p:sp>
    </p:spTree>
    <p:extLst>
      <p:ext uri="{BB962C8B-B14F-4D97-AF65-F5344CB8AC3E}">
        <p14:creationId xmlns:p14="http://schemas.microsoft.com/office/powerpoint/2010/main" val="32360274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1461</TotalTime>
  <Words>2201</Words>
  <Application>Microsoft Office PowerPoint</Application>
  <PresentationFormat>Widescreen</PresentationFormat>
  <Paragraphs>367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Consolas</vt:lpstr>
      <vt:lpstr>Trebuchet MS</vt:lpstr>
      <vt:lpstr>Wingdings 3</vt:lpstr>
      <vt:lpstr>Facet</vt:lpstr>
      <vt:lpstr>SQL SELECT Statement   </vt:lpstr>
      <vt:lpstr>SELECT Statement Syntax</vt:lpstr>
      <vt:lpstr>SELECT Query (Example)</vt:lpstr>
      <vt:lpstr>SELECT Query (selecting columns)</vt:lpstr>
      <vt:lpstr>SELECT Query (selecting columns)</vt:lpstr>
      <vt:lpstr>SELECT Query (selecting all columns)</vt:lpstr>
      <vt:lpstr>SELECT Query (selecting all columns)</vt:lpstr>
      <vt:lpstr>SELECT Query (selecting all columns)</vt:lpstr>
      <vt:lpstr>SELECT Query (selecting all columns)</vt:lpstr>
      <vt:lpstr>WHERE clause operators (relational)</vt:lpstr>
      <vt:lpstr>WHERE clause operators</vt:lpstr>
      <vt:lpstr>WHERE clause operators</vt:lpstr>
      <vt:lpstr>WHERE clause operators</vt:lpstr>
      <vt:lpstr>WHERE clause operators (Logical)</vt:lpstr>
      <vt:lpstr>WHERE clause operators (Logical)</vt:lpstr>
      <vt:lpstr>WHERE clause operators (Logical)</vt:lpstr>
      <vt:lpstr>WHERE clause operators (IN)</vt:lpstr>
      <vt:lpstr>WHERE clause operators (NOT)</vt:lpstr>
      <vt:lpstr>WHERE clause operators (Logical)</vt:lpstr>
      <vt:lpstr>WHERE clause operators (Logical)</vt:lpstr>
      <vt:lpstr>WHERE clause operators (Logical)</vt:lpstr>
      <vt:lpstr>WHERE clause operators (BETWEEN)</vt:lpstr>
      <vt:lpstr>WHERE clause operators (NOT)</vt:lpstr>
      <vt:lpstr>SELECT Column Aliases</vt:lpstr>
      <vt:lpstr>SELECT Column Aliases</vt:lpstr>
      <vt:lpstr>SELECT TOP Argument</vt:lpstr>
      <vt:lpstr>SELECT TOP Argument</vt:lpstr>
      <vt:lpstr>SELECT Distinct Argument</vt:lpstr>
      <vt:lpstr>Relational JOIN Statement</vt:lpstr>
      <vt:lpstr>Relational JOIN (CROSS JOIN)</vt:lpstr>
      <vt:lpstr>Relational JOIN (Natural JOIN)</vt:lpstr>
      <vt:lpstr>Relational JOIN (Natural JOIN)</vt:lpstr>
      <vt:lpstr>Relational JOIN (Natural JOIN)</vt:lpstr>
      <vt:lpstr>Relational JOIN (Table Names Aliases)</vt:lpstr>
      <vt:lpstr>Relational JOIN (Table Names Aliases)</vt:lpstr>
      <vt:lpstr>Relational JOIN (LEFT OUTER JOIN)</vt:lpstr>
      <vt:lpstr>Relational JOIN (RIGHT OUTER JOIN)</vt:lpstr>
      <vt:lpstr>Relational JOIN (FULL OUTER JOIN)</vt:lpstr>
      <vt:lpstr>SQL SELECT (LIKE Statement)</vt:lpstr>
      <vt:lpstr>SQL SELECT (LIKE Statement)</vt:lpstr>
      <vt:lpstr>SQL Functions</vt:lpstr>
      <vt:lpstr>SQL Aggregate Functions</vt:lpstr>
      <vt:lpstr>SQL Aggregate Functions (SUM)</vt:lpstr>
      <vt:lpstr>SQL Aggregate Functions (AVG)</vt:lpstr>
      <vt:lpstr>SQL Aggregate Functions (COUNT)</vt:lpstr>
      <vt:lpstr>SQL Aggregate Functions (MIN)</vt:lpstr>
      <vt:lpstr>SQL Aggregate Functions (MAX)</vt:lpstr>
      <vt:lpstr>SQL Aggregate Functions with GROUP BY</vt:lpstr>
      <vt:lpstr>SQL Aggregate Functions (SUM with Subgroups)</vt:lpstr>
      <vt:lpstr>SQL Aggregate Functions (AVG with Subgroups)</vt:lpstr>
      <vt:lpstr>SQL Aggregate Functions with multiple Subgroups and ORDER BY</vt:lpstr>
      <vt:lpstr>SQL Aggregate Functions with Subgroups and ORDER BY</vt:lpstr>
      <vt:lpstr>SQL Aggregate Functions with Subgroups and ORDER BY (Another Example)</vt:lpstr>
      <vt:lpstr>SQL Aggregate Functions with Subgroups, ORDER BY and HAVING</vt:lpstr>
      <vt:lpstr>SQL Aggregate Functions with Subgroups, ORDER BY and HAVING (Another Example)</vt:lpstr>
      <vt:lpstr>SQL Aggregate Functions with Subgroups, WHERE, ORDER BY and HAVING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SELECT Statement</dc:title>
  <dc:creator>Muhammad Sadeequllah</dc:creator>
  <cp:lastModifiedBy>Mazhar Ahmad</cp:lastModifiedBy>
  <cp:revision>59</cp:revision>
  <dcterms:created xsi:type="dcterms:W3CDTF">2020-06-05T02:22:26Z</dcterms:created>
  <dcterms:modified xsi:type="dcterms:W3CDTF">2025-03-10T07:02:19Z</dcterms:modified>
</cp:coreProperties>
</file>